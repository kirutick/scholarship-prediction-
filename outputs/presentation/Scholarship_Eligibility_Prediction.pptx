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7" r:id="rId2"/>
    <p:sldId id="258" r:id="rId3"/>
    <p:sldId id="263" r:id="rId4"/>
    <p:sldId id="262" r:id="rId5"/>
    <p:sldId id="259" r:id="rId6"/>
    <p:sldId id="260" r:id="rId7"/>
    <p:sldId id="266" r:id="rId15"/>
    <p:sldId id="267" r:id="rId16"/>
    <p:sldId id="264" r:id="rId8"/>
    <p:sldId id="265"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F1578"/>
    <a:srgbClr val="FF6600"/>
    <a:srgbClr val="FF0066"/>
    <a:srgbClr val="F3F7FF"/>
    <a:srgbClr val="DDE8FF"/>
    <a:srgbClr val="F3FAFF"/>
    <a:srgbClr val="E7F5FF"/>
    <a:srgbClr val="CDEAFF"/>
    <a:srgbClr val="FEF8FC"/>
    <a:srgbClr val="FCEAF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9.xml"/><Relationship Id="rId9" Type="http://schemas.openxmlformats.org/officeDocument/2006/relationships/slide" Target="slides/slide10.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7.xml"/><Relationship Id="rId16"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21F40F-165E-40CE-AF84-6CDB68BF8700}" type="datetimeFigureOut">
              <a:rPr lang="en-IN" smtClean="0"/>
              <a:t>23-06-2026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7F90F1-2467-457D-99A5-5A934390403F}" type="slidenum">
              <a:rPr lang="en-IN" smtClean="0"/>
              <a:t>‹#›</a:t>
            </a:fld>
            <a:endParaRPr lang="en-IN"/>
          </a:p>
        </p:txBody>
      </p:sp>
    </p:spTree>
    <p:extLst>
      <p:ext uri="{BB962C8B-B14F-4D97-AF65-F5344CB8AC3E}">
        <p14:creationId xmlns:p14="http://schemas.microsoft.com/office/powerpoint/2010/main" val="582469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F343C-8127-1258-E9DF-EE5FBB97307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216CF94-B4A4-7FB2-3E23-B287C5F6E8B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DE97579-6D5E-5D38-4156-0A63CE3374CC}"/>
              </a:ext>
            </a:extLst>
          </p:cNvPr>
          <p:cNvSpPr>
            <a:spLocks noGrp="1"/>
          </p:cNvSpPr>
          <p:nvPr>
            <p:ph type="dt" sz="half" idx="10"/>
          </p:nvPr>
        </p:nvSpPr>
        <p:spPr/>
        <p:txBody>
          <a:bodyPr/>
          <a:lstStyle/>
          <a:p>
            <a:fld id="{6A6ACD0C-F12A-4D68-B39F-1F8622420AB4}" type="datetimeFigureOut">
              <a:rPr lang="en-IN" smtClean="0"/>
              <a:t>23-06-2026</a:t>
            </a:fld>
            <a:endParaRPr lang="en-IN"/>
          </a:p>
        </p:txBody>
      </p:sp>
      <p:sp>
        <p:nvSpPr>
          <p:cNvPr id="5" name="Footer Placeholder 4">
            <a:extLst>
              <a:ext uri="{FF2B5EF4-FFF2-40B4-BE49-F238E27FC236}">
                <a16:creationId xmlns:a16="http://schemas.microsoft.com/office/drawing/2014/main" id="{332769B0-AE88-EBAB-1331-035CAEC88A9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6A6ADCF-9A84-5546-D595-ED3A7C11056D}"/>
              </a:ext>
            </a:extLst>
          </p:cNvPr>
          <p:cNvSpPr>
            <a:spLocks noGrp="1"/>
          </p:cNvSpPr>
          <p:nvPr>
            <p:ph type="sldNum" sz="quarter" idx="12"/>
          </p:nvPr>
        </p:nvSpPr>
        <p:spPr/>
        <p:txBody>
          <a:bodyPr/>
          <a:lstStyle/>
          <a:p>
            <a:fld id="{4EA2EFF4-8A3E-4365-B8C7-47932BCA0F8C}" type="slidenum">
              <a:rPr lang="en-IN" smtClean="0"/>
              <a:t>‹#›</a:t>
            </a:fld>
            <a:endParaRPr lang="en-IN"/>
          </a:p>
        </p:txBody>
      </p:sp>
    </p:spTree>
    <p:extLst>
      <p:ext uri="{BB962C8B-B14F-4D97-AF65-F5344CB8AC3E}">
        <p14:creationId xmlns:p14="http://schemas.microsoft.com/office/powerpoint/2010/main" val="30971349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F5AC58-4E75-B9B4-DD8B-4D25F6043E5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26ED94A-A679-5F94-E4F6-8DD7AA86969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BBA7952-64D6-6E1D-61AF-B7D79DB1EDE1}"/>
              </a:ext>
            </a:extLst>
          </p:cNvPr>
          <p:cNvSpPr>
            <a:spLocks noGrp="1"/>
          </p:cNvSpPr>
          <p:nvPr>
            <p:ph type="dt" sz="half" idx="10"/>
          </p:nvPr>
        </p:nvSpPr>
        <p:spPr/>
        <p:txBody>
          <a:bodyPr/>
          <a:lstStyle/>
          <a:p>
            <a:fld id="{6A6ACD0C-F12A-4D68-B39F-1F8622420AB4}" type="datetimeFigureOut">
              <a:rPr lang="en-IN" smtClean="0"/>
              <a:t>23-06-2026</a:t>
            </a:fld>
            <a:endParaRPr lang="en-IN"/>
          </a:p>
        </p:txBody>
      </p:sp>
      <p:sp>
        <p:nvSpPr>
          <p:cNvPr id="5" name="Footer Placeholder 4">
            <a:extLst>
              <a:ext uri="{FF2B5EF4-FFF2-40B4-BE49-F238E27FC236}">
                <a16:creationId xmlns:a16="http://schemas.microsoft.com/office/drawing/2014/main" id="{D1E82CD7-F904-E353-548C-CACAD9D149F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533595-DC14-D85B-D84A-2DF824ED1C32}"/>
              </a:ext>
            </a:extLst>
          </p:cNvPr>
          <p:cNvSpPr>
            <a:spLocks noGrp="1"/>
          </p:cNvSpPr>
          <p:nvPr>
            <p:ph type="sldNum" sz="quarter" idx="12"/>
          </p:nvPr>
        </p:nvSpPr>
        <p:spPr/>
        <p:txBody>
          <a:bodyPr/>
          <a:lstStyle/>
          <a:p>
            <a:fld id="{4EA2EFF4-8A3E-4365-B8C7-47932BCA0F8C}" type="slidenum">
              <a:rPr lang="en-IN" smtClean="0"/>
              <a:t>‹#›</a:t>
            </a:fld>
            <a:endParaRPr lang="en-IN"/>
          </a:p>
        </p:txBody>
      </p:sp>
    </p:spTree>
    <p:extLst>
      <p:ext uri="{BB962C8B-B14F-4D97-AF65-F5344CB8AC3E}">
        <p14:creationId xmlns:p14="http://schemas.microsoft.com/office/powerpoint/2010/main" val="13460287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4A476-CF38-1D79-ED27-C733048DF3E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338F996-4D87-8A99-8A9A-01379E37F5C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1F256F3-D2F0-52E7-DC1B-0C486FFB94BC}"/>
              </a:ext>
            </a:extLst>
          </p:cNvPr>
          <p:cNvSpPr>
            <a:spLocks noGrp="1"/>
          </p:cNvSpPr>
          <p:nvPr>
            <p:ph type="dt" sz="half" idx="10"/>
          </p:nvPr>
        </p:nvSpPr>
        <p:spPr/>
        <p:txBody>
          <a:bodyPr/>
          <a:lstStyle/>
          <a:p>
            <a:fld id="{6A6ACD0C-F12A-4D68-B39F-1F8622420AB4}" type="datetimeFigureOut">
              <a:rPr lang="en-IN" smtClean="0"/>
              <a:t>23-06-2026</a:t>
            </a:fld>
            <a:endParaRPr lang="en-IN"/>
          </a:p>
        </p:txBody>
      </p:sp>
      <p:sp>
        <p:nvSpPr>
          <p:cNvPr id="5" name="Footer Placeholder 4">
            <a:extLst>
              <a:ext uri="{FF2B5EF4-FFF2-40B4-BE49-F238E27FC236}">
                <a16:creationId xmlns:a16="http://schemas.microsoft.com/office/drawing/2014/main" id="{ABF87E55-4628-1157-274A-3EF145855FA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FD53F6C-BA0B-A877-BF17-8B45E9BB0A1C}"/>
              </a:ext>
            </a:extLst>
          </p:cNvPr>
          <p:cNvSpPr>
            <a:spLocks noGrp="1"/>
          </p:cNvSpPr>
          <p:nvPr>
            <p:ph type="sldNum" sz="quarter" idx="12"/>
          </p:nvPr>
        </p:nvSpPr>
        <p:spPr/>
        <p:txBody>
          <a:bodyPr/>
          <a:lstStyle/>
          <a:p>
            <a:fld id="{4EA2EFF4-8A3E-4365-B8C7-47932BCA0F8C}" type="slidenum">
              <a:rPr lang="en-IN" smtClean="0"/>
              <a:t>‹#›</a:t>
            </a:fld>
            <a:endParaRPr lang="en-IN"/>
          </a:p>
        </p:txBody>
      </p:sp>
    </p:spTree>
    <p:extLst>
      <p:ext uri="{BB962C8B-B14F-4D97-AF65-F5344CB8AC3E}">
        <p14:creationId xmlns:p14="http://schemas.microsoft.com/office/powerpoint/2010/main" val="27706887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34AF7-7823-341A-3744-75DC63C3A9E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B46FEFD-F9C3-3DAE-858E-00D887944D2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F3D1562-ABF0-CC28-D2C4-C633152C35C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4CEE5AA-EA07-6D83-B362-B76F665AD4BC}"/>
              </a:ext>
            </a:extLst>
          </p:cNvPr>
          <p:cNvSpPr>
            <a:spLocks noGrp="1"/>
          </p:cNvSpPr>
          <p:nvPr>
            <p:ph type="dt" sz="half" idx="10"/>
          </p:nvPr>
        </p:nvSpPr>
        <p:spPr/>
        <p:txBody>
          <a:bodyPr/>
          <a:lstStyle/>
          <a:p>
            <a:fld id="{6A6ACD0C-F12A-4D68-B39F-1F8622420AB4}" type="datetimeFigureOut">
              <a:rPr lang="en-IN" smtClean="0"/>
              <a:t>23-06-2026</a:t>
            </a:fld>
            <a:endParaRPr lang="en-IN"/>
          </a:p>
        </p:txBody>
      </p:sp>
      <p:sp>
        <p:nvSpPr>
          <p:cNvPr id="6" name="Footer Placeholder 5">
            <a:extLst>
              <a:ext uri="{FF2B5EF4-FFF2-40B4-BE49-F238E27FC236}">
                <a16:creationId xmlns:a16="http://schemas.microsoft.com/office/drawing/2014/main" id="{2F33023A-F339-B53D-7E4A-2444445AC9E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C02E6C6-AB7F-4959-6D62-21B78754DA6E}"/>
              </a:ext>
            </a:extLst>
          </p:cNvPr>
          <p:cNvSpPr>
            <a:spLocks noGrp="1"/>
          </p:cNvSpPr>
          <p:nvPr>
            <p:ph type="sldNum" sz="quarter" idx="12"/>
          </p:nvPr>
        </p:nvSpPr>
        <p:spPr/>
        <p:txBody>
          <a:bodyPr/>
          <a:lstStyle/>
          <a:p>
            <a:fld id="{4EA2EFF4-8A3E-4365-B8C7-47932BCA0F8C}" type="slidenum">
              <a:rPr lang="en-IN" smtClean="0"/>
              <a:t>‹#›</a:t>
            </a:fld>
            <a:endParaRPr lang="en-IN"/>
          </a:p>
        </p:txBody>
      </p:sp>
    </p:spTree>
    <p:extLst>
      <p:ext uri="{BB962C8B-B14F-4D97-AF65-F5344CB8AC3E}">
        <p14:creationId xmlns:p14="http://schemas.microsoft.com/office/powerpoint/2010/main" val="42047957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49E3A-6BB5-BA55-C8E7-1830CB58381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BC67B83-98A9-9B9C-5C0C-9733C5EC2CD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18E86CD-DA3D-D391-8FAA-38FBA9CFF17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DE1F7CF-FE7E-CE5D-EF9C-9E2D7FD39B8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0E48E8C-68D9-E64F-1BE4-B9C265D368A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D5CF674-9A3A-3044-645F-E8052F9B4A7A}"/>
              </a:ext>
            </a:extLst>
          </p:cNvPr>
          <p:cNvSpPr>
            <a:spLocks noGrp="1"/>
          </p:cNvSpPr>
          <p:nvPr>
            <p:ph type="dt" sz="half" idx="10"/>
          </p:nvPr>
        </p:nvSpPr>
        <p:spPr/>
        <p:txBody>
          <a:bodyPr/>
          <a:lstStyle/>
          <a:p>
            <a:fld id="{6A6ACD0C-F12A-4D68-B39F-1F8622420AB4}" type="datetimeFigureOut">
              <a:rPr lang="en-IN" smtClean="0"/>
              <a:t>23-06-2026</a:t>
            </a:fld>
            <a:endParaRPr lang="en-IN"/>
          </a:p>
        </p:txBody>
      </p:sp>
      <p:sp>
        <p:nvSpPr>
          <p:cNvPr id="8" name="Footer Placeholder 7">
            <a:extLst>
              <a:ext uri="{FF2B5EF4-FFF2-40B4-BE49-F238E27FC236}">
                <a16:creationId xmlns:a16="http://schemas.microsoft.com/office/drawing/2014/main" id="{14EB99EB-4BF6-48AE-D4AC-8C09B612543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1A6F228-AB23-AF97-9C06-8CCB6934DCF8}"/>
              </a:ext>
            </a:extLst>
          </p:cNvPr>
          <p:cNvSpPr>
            <a:spLocks noGrp="1"/>
          </p:cNvSpPr>
          <p:nvPr>
            <p:ph type="sldNum" sz="quarter" idx="12"/>
          </p:nvPr>
        </p:nvSpPr>
        <p:spPr/>
        <p:txBody>
          <a:bodyPr/>
          <a:lstStyle/>
          <a:p>
            <a:fld id="{4EA2EFF4-8A3E-4365-B8C7-47932BCA0F8C}" type="slidenum">
              <a:rPr lang="en-IN" smtClean="0"/>
              <a:t>‹#›</a:t>
            </a:fld>
            <a:endParaRPr lang="en-IN"/>
          </a:p>
        </p:txBody>
      </p:sp>
    </p:spTree>
    <p:extLst>
      <p:ext uri="{BB962C8B-B14F-4D97-AF65-F5344CB8AC3E}">
        <p14:creationId xmlns:p14="http://schemas.microsoft.com/office/powerpoint/2010/main" val="12892777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ADD9D-E95C-3CDA-6C7A-235427379A9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D5E453C-3392-3A29-A015-13DB08E60E18}"/>
              </a:ext>
            </a:extLst>
          </p:cNvPr>
          <p:cNvSpPr>
            <a:spLocks noGrp="1"/>
          </p:cNvSpPr>
          <p:nvPr>
            <p:ph type="dt" sz="half" idx="10"/>
          </p:nvPr>
        </p:nvSpPr>
        <p:spPr/>
        <p:txBody>
          <a:bodyPr/>
          <a:lstStyle/>
          <a:p>
            <a:fld id="{6A6ACD0C-F12A-4D68-B39F-1F8622420AB4}" type="datetimeFigureOut">
              <a:rPr lang="en-IN" smtClean="0"/>
              <a:t>23-06-2026</a:t>
            </a:fld>
            <a:endParaRPr lang="en-IN"/>
          </a:p>
        </p:txBody>
      </p:sp>
      <p:sp>
        <p:nvSpPr>
          <p:cNvPr id="4" name="Footer Placeholder 3">
            <a:extLst>
              <a:ext uri="{FF2B5EF4-FFF2-40B4-BE49-F238E27FC236}">
                <a16:creationId xmlns:a16="http://schemas.microsoft.com/office/drawing/2014/main" id="{79DD47A0-CF43-F356-0270-F4DF4727700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439356C-6631-9C3A-AE27-AD51D4C19057}"/>
              </a:ext>
            </a:extLst>
          </p:cNvPr>
          <p:cNvSpPr>
            <a:spLocks noGrp="1"/>
          </p:cNvSpPr>
          <p:nvPr>
            <p:ph type="sldNum" sz="quarter" idx="12"/>
          </p:nvPr>
        </p:nvSpPr>
        <p:spPr/>
        <p:txBody>
          <a:bodyPr/>
          <a:lstStyle/>
          <a:p>
            <a:fld id="{4EA2EFF4-8A3E-4365-B8C7-47932BCA0F8C}" type="slidenum">
              <a:rPr lang="en-IN" smtClean="0"/>
              <a:t>‹#›</a:t>
            </a:fld>
            <a:endParaRPr lang="en-IN"/>
          </a:p>
        </p:txBody>
      </p:sp>
    </p:spTree>
    <p:extLst>
      <p:ext uri="{BB962C8B-B14F-4D97-AF65-F5344CB8AC3E}">
        <p14:creationId xmlns:p14="http://schemas.microsoft.com/office/powerpoint/2010/main" val="23477069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01D4A0C-5A28-2B3C-8975-67D09ED146E5}"/>
              </a:ext>
            </a:extLst>
          </p:cNvPr>
          <p:cNvSpPr>
            <a:spLocks noGrp="1"/>
          </p:cNvSpPr>
          <p:nvPr>
            <p:ph type="dt" sz="half" idx="10"/>
          </p:nvPr>
        </p:nvSpPr>
        <p:spPr/>
        <p:txBody>
          <a:bodyPr/>
          <a:lstStyle/>
          <a:p>
            <a:fld id="{6A6ACD0C-F12A-4D68-B39F-1F8622420AB4}" type="datetimeFigureOut">
              <a:rPr lang="en-IN" smtClean="0"/>
              <a:t>23-06-2026</a:t>
            </a:fld>
            <a:endParaRPr lang="en-IN"/>
          </a:p>
        </p:txBody>
      </p:sp>
      <p:sp>
        <p:nvSpPr>
          <p:cNvPr id="3" name="Footer Placeholder 2">
            <a:extLst>
              <a:ext uri="{FF2B5EF4-FFF2-40B4-BE49-F238E27FC236}">
                <a16:creationId xmlns:a16="http://schemas.microsoft.com/office/drawing/2014/main" id="{12B47152-AF98-DFA8-628D-8204B135F29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C298FA1-05D6-E569-A37A-E51368C4041B}"/>
              </a:ext>
            </a:extLst>
          </p:cNvPr>
          <p:cNvSpPr>
            <a:spLocks noGrp="1"/>
          </p:cNvSpPr>
          <p:nvPr>
            <p:ph type="sldNum" sz="quarter" idx="12"/>
          </p:nvPr>
        </p:nvSpPr>
        <p:spPr/>
        <p:txBody>
          <a:bodyPr/>
          <a:lstStyle/>
          <a:p>
            <a:fld id="{4EA2EFF4-8A3E-4365-B8C7-47932BCA0F8C}" type="slidenum">
              <a:rPr lang="en-IN" smtClean="0"/>
              <a:t>‹#›</a:t>
            </a:fld>
            <a:endParaRPr lang="en-IN"/>
          </a:p>
        </p:txBody>
      </p:sp>
    </p:spTree>
    <p:extLst>
      <p:ext uri="{BB962C8B-B14F-4D97-AF65-F5344CB8AC3E}">
        <p14:creationId xmlns:p14="http://schemas.microsoft.com/office/powerpoint/2010/main" val="27766278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42BF50-0C1D-BD91-DD07-B1F880FE6A5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495D7D4-BDCA-BC98-E234-3EE780F0024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5E494E5-BD7D-58BF-E1E3-217A848010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9A7B03F-ADE7-373C-C062-83B1106B7898}"/>
              </a:ext>
            </a:extLst>
          </p:cNvPr>
          <p:cNvSpPr>
            <a:spLocks noGrp="1"/>
          </p:cNvSpPr>
          <p:nvPr>
            <p:ph type="dt" sz="half" idx="10"/>
          </p:nvPr>
        </p:nvSpPr>
        <p:spPr/>
        <p:txBody>
          <a:bodyPr/>
          <a:lstStyle/>
          <a:p>
            <a:fld id="{6A6ACD0C-F12A-4D68-B39F-1F8622420AB4}" type="datetimeFigureOut">
              <a:rPr lang="en-IN" smtClean="0"/>
              <a:t>23-06-2026</a:t>
            </a:fld>
            <a:endParaRPr lang="en-IN"/>
          </a:p>
        </p:txBody>
      </p:sp>
      <p:sp>
        <p:nvSpPr>
          <p:cNvPr id="6" name="Footer Placeholder 5">
            <a:extLst>
              <a:ext uri="{FF2B5EF4-FFF2-40B4-BE49-F238E27FC236}">
                <a16:creationId xmlns:a16="http://schemas.microsoft.com/office/drawing/2014/main" id="{E6C8AD0E-F03E-82E7-CB51-F87CA4222ED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F0C2178-89AE-2D65-3C8A-C80DD8C2E3FC}"/>
              </a:ext>
            </a:extLst>
          </p:cNvPr>
          <p:cNvSpPr>
            <a:spLocks noGrp="1"/>
          </p:cNvSpPr>
          <p:nvPr>
            <p:ph type="sldNum" sz="quarter" idx="12"/>
          </p:nvPr>
        </p:nvSpPr>
        <p:spPr/>
        <p:txBody>
          <a:bodyPr/>
          <a:lstStyle/>
          <a:p>
            <a:fld id="{4EA2EFF4-8A3E-4365-B8C7-47932BCA0F8C}" type="slidenum">
              <a:rPr lang="en-IN" smtClean="0"/>
              <a:t>‹#›</a:t>
            </a:fld>
            <a:endParaRPr lang="en-IN"/>
          </a:p>
        </p:txBody>
      </p:sp>
    </p:spTree>
    <p:extLst>
      <p:ext uri="{BB962C8B-B14F-4D97-AF65-F5344CB8AC3E}">
        <p14:creationId xmlns:p14="http://schemas.microsoft.com/office/powerpoint/2010/main" val="8027430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7942F-D40E-0AA3-0409-4AD39B390F9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C73E1BA-37F0-2DEA-B7FE-7FD565BFC67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87AE0E8-D94A-3534-C8B6-58AE529E7B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BADCC99-9E10-09F9-AD30-FF6E9144A6FB}"/>
              </a:ext>
            </a:extLst>
          </p:cNvPr>
          <p:cNvSpPr>
            <a:spLocks noGrp="1"/>
          </p:cNvSpPr>
          <p:nvPr>
            <p:ph type="dt" sz="half" idx="10"/>
          </p:nvPr>
        </p:nvSpPr>
        <p:spPr/>
        <p:txBody>
          <a:bodyPr/>
          <a:lstStyle/>
          <a:p>
            <a:fld id="{6A6ACD0C-F12A-4D68-B39F-1F8622420AB4}" type="datetimeFigureOut">
              <a:rPr lang="en-IN" smtClean="0"/>
              <a:t>23-06-2026</a:t>
            </a:fld>
            <a:endParaRPr lang="en-IN"/>
          </a:p>
        </p:txBody>
      </p:sp>
      <p:sp>
        <p:nvSpPr>
          <p:cNvPr id="6" name="Footer Placeholder 5">
            <a:extLst>
              <a:ext uri="{FF2B5EF4-FFF2-40B4-BE49-F238E27FC236}">
                <a16:creationId xmlns:a16="http://schemas.microsoft.com/office/drawing/2014/main" id="{74AF6FBC-07D0-7226-C83D-F484DE16F1C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908E6EC-1C36-2D56-53B9-AAC08C98D1BA}"/>
              </a:ext>
            </a:extLst>
          </p:cNvPr>
          <p:cNvSpPr>
            <a:spLocks noGrp="1"/>
          </p:cNvSpPr>
          <p:nvPr>
            <p:ph type="sldNum" sz="quarter" idx="12"/>
          </p:nvPr>
        </p:nvSpPr>
        <p:spPr/>
        <p:txBody>
          <a:bodyPr/>
          <a:lstStyle/>
          <a:p>
            <a:fld id="{4EA2EFF4-8A3E-4365-B8C7-47932BCA0F8C}" type="slidenum">
              <a:rPr lang="en-IN" smtClean="0"/>
              <a:t>‹#›</a:t>
            </a:fld>
            <a:endParaRPr lang="en-IN"/>
          </a:p>
        </p:txBody>
      </p:sp>
    </p:spTree>
    <p:extLst>
      <p:ext uri="{BB962C8B-B14F-4D97-AF65-F5344CB8AC3E}">
        <p14:creationId xmlns:p14="http://schemas.microsoft.com/office/powerpoint/2010/main" val="10771442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5ED5E-E518-1462-9F03-02EB2A35002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4C73FA3-723E-3C3F-511B-0B95F1BDAF9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181E419-E8D7-3672-2612-A7604BEE687A}"/>
              </a:ext>
            </a:extLst>
          </p:cNvPr>
          <p:cNvSpPr>
            <a:spLocks noGrp="1"/>
          </p:cNvSpPr>
          <p:nvPr>
            <p:ph type="dt" sz="half" idx="10"/>
          </p:nvPr>
        </p:nvSpPr>
        <p:spPr/>
        <p:txBody>
          <a:bodyPr/>
          <a:lstStyle/>
          <a:p>
            <a:fld id="{6A6ACD0C-F12A-4D68-B39F-1F8622420AB4}" type="datetimeFigureOut">
              <a:rPr lang="en-IN" smtClean="0"/>
              <a:t>23-06-2026</a:t>
            </a:fld>
            <a:endParaRPr lang="en-IN"/>
          </a:p>
        </p:txBody>
      </p:sp>
      <p:sp>
        <p:nvSpPr>
          <p:cNvPr id="5" name="Footer Placeholder 4">
            <a:extLst>
              <a:ext uri="{FF2B5EF4-FFF2-40B4-BE49-F238E27FC236}">
                <a16:creationId xmlns:a16="http://schemas.microsoft.com/office/drawing/2014/main" id="{9868BAEA-896A-AD8A-285C-C9D9ACED97C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938B0A7-2238-48EC-922E-1EB2F1212E91}"/>
              </a:ext>
            </a:extLst>
          </p:cNvPr>
          <p:cNvSpPr>
            <a:spLocks noGrp="1"/>
          </p:cNvSpPr>
          <p:nvPr>
            <p:ph type="sldNum" sz="quarter" idx="12"/>
          </p:nvPr>
        </p:nvSpPr>
        <p:spPr/>
        <p:txBody>
          <a:bodyPr/>
          <a:lstStyle/>
          <a:p>
            <a:fld id="{4EA2EFF4-8A3E-4365-B8C7-47932BCA0F8C}" type="slidenum">
              <a:rPr lang="en-IN" smtClean="0"/>
              <a:t>‹#›</a:t>
            </a:fld>
            <a:endParaRPr lang="en-IN"/>
          </a:p>
        </p:txBody>
      </p:sp>
    </p:spTree>
    <p:extLst>
      <p:ext uri="{BB962C8B-B14F-4D97-AF65-F5344CB8AC3E}">
        <p14:creationId xmlns:p14="http://schemas.microsoft.com/office/powerpoint/2010/main" val="22611817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CFD2BAD-FA66-E62B-2199-72CACB838B0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0904CA8-A123-79DB-FECA-162237D1B7E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6322216-AD79-4A9C-5C9A-1DDECCB8FB09}"/>
              </a:ext>
            </a:extLst>
          </p:cNvPr>
          <p:cNvSpPr>
            <a:spLocks noGrp="1"/>
          </p:cNvSpPr>
          <p:nvPr>
            <p:ph type="dt" sz="half" idx="10"/>
          </p:nvPr>
        </p:nvSpPr>
        <p:spPr/>
        <p:txBody>
          <a:bodyPr/>
          <a:lstStyle/>
          <a:p>
            <a:fld id="{6A6ACD0C-F12A-4D68-B39F-1F8622420AB4}" type="datetimeFigureOut">
              <a:rPr lang="en-IN" smtClean="0"/>
              <a:t>23-06-2026</a:t>
            </a:fld>
            <a:endParaRPr lang="en-IN"/>
          </a:p>
        </p:txBody>
      </p:sp>
      <p:sp>
        <p:nvSpPr>
          <p:cNvPr id="5" name="Footer Placeholder 4">
            <a:extLst>
              <a:ext uri="{FF2B5EF4-FFF2-40B4-BE49-F238E27FC236}">
                <a16:creationId xmlns:a16="http://schemas.microsoft.com/office/drawing/2014/main" id="{B4400899-63C0-CE8F-6DB3-E5957E1EF9A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B352E4F-8D10-2A48-F1B7-063AF1AE890E}"/>
              </a:ext>
            </a:extLst>
          </p:cNvPr>
          <p:cNvSpPr>
            <a:spLocks noGrp="1"/>
          </p:cNvSpPr>
          <p:nvPr>
            <p:ph type="sldNum" sz="quarter" idx="12"/>
          </p:nvPr>
        </p:nvSpPr>
        <p:spPr/>
        <p:txBody>
          <a:bodyPr/>
          <a:lstStyle/>
          <a:p>
            <a:fld id="{4EA2EFF4-8A3E-4365-B8C7-47932BCA0F8C}" type="slidenum">
              <a:rPr lang="en-IN" smtClean="0"/>
              <a:t>‹#›</a:t>
            </a:fld>
            <a:endParaRPr lang="en-IN"/>
          </a:p>
        </p:txBody>
      </p:sp>
    </p:spTree>
    <p:extLst>
      <p:ext uri="{BB962C8B-B14F-4D97-AF65-F5344CB8AC3E}">
        <p14:creationId xmlns:p14="http://schemas.microsoft.com/office/powerpoint/2010/main" val="88720300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AB11D91-9AC8-31CA-8712-A7ECA0E4F0B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954E577-CF97-9AEF-4526-D8738FE562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54AAA1C-BFE5-D2C1-7E75-080D5140955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A6ACD0C-F12A-4D68-B39F-1F8622420AB4}" type="datetimeFigureOut">
              <a:rPr lang="en-IN" smtClean="0"/>
              <a:t>23-06-2026</a:t>
            </a:fld>
            <a:endParaRPr lang="en-IN"/>
          </a:p>
        </p:txBody>
      </p:sp>
      <p:sp>
        <p:nvSpPr>
          <p:cNvPr id="5" name="Footer Placeholder 4">
            <a:extLst>
              <a:ext uri="{FF2B5EF4-FFF2-40B4-BE49-F238E27FC236}">
                <a16:creationId xmlns:a16="http://schemas.microsoft.com/office/drawing/2014/main" id="{2778E625-6497-CFBC-C695-85968D6B8FE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F282110E-1343-465B-DA09-01A34C241B0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EA2EFF4-8A3E-4365-B8C7-47932BCA0F8C}" type="slidenum">
              <a:rPr lang="en-IN" smtClean="0"/>
              <a:t>‹#›</a:t>
            </a:fld>
            <a:endParaRPr lang="en-IN"/>
          </a:p>
        </p:txBody>
      </p:sp>
    </p:spTree>
    <p:extLst>
      <p:ext uri="{BB962C8B-B14F-4D97-AF65-F5344CB8AC3E}">
        <p14:creationId xmlns:p14="http://schemas.microsoft.com/office/powerpoint/2010/main" val="39065276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880563-83A6-EA20-0896-20220B48C57B}"/>
            </a:ext>
          </a:extLst>
        </p:cNvPr>
        <p:cNvGrpSpPr/>
        <p:nvPr/>
      </p:nvGrpSpPr>
      <p:grpSpPr>
        <a:xfrm>
          <a:off x="0" y="0"/>
          <a:ext cx="0" cy="0"/>
          <a:chOff x="0" y="0"/>
          <a:chExt cx="0" cy="0"/>
        </a:xfrm>
      </p:grpSpPr>
      <p:sp>
        <p:nvSpPr>
          <p:cNvPr id="11" name="Freeform: Shape 10">
            <a:extLst>
              <a:ext uri="{FF2B5EF4-FFF2-40B4-BE49-F238E27FC236}">
                <a16:creationId xmlns:a16="http://schemas.microsoft.com/office/drawing/2014/main" id="{C86996BB-8738-0D83-66E9-F18820362BAC}"/>
              </a:ext>
            </a:extLst>
          </p:cNvPr>
          <p:cNvSpPr/>
          <p:nvPr/>
        </p:nvSpPr>
        <p:spPr>
          <a:xfrm>
            <a:off x="1165123" y="1425678"/>
            <a:ext cx="9861754" cy="686626"/>
          </a:xfrm>
          <a:custGeom>
            <a:avLst/>
            <a:gdLst>
              <a:gd name="csX0" fmla="*/ 283503 w 9861754"/>
              <a:gd name="csY0" fmla="*/ 0 h 686626"/>
              <a:gd name="csX1" fmla="*/ 9578251 w 9861754"/>
              <a:gd name="csY1" fmla="*/ 0 h 686626"/>
              <a:gd name="csX2" fmla="*/ 9861754 w 9861754"/>
              <a:gd name="csY2" fmla="*/ 283503 h 686626"/>
              <a:gd name="csX3" fmla="*/ 9861754 w 9861754"/>
              <a:gd name="csY3" fmla="*/ 686626 h 686626"/>
              <a:gd name="csX4" fmla="*/ 9578251 w 9861754"/>
              <a:gd name="csY4" fmla="*/ 403123 h 686626"/>
              <a:gd name="csX5" fmla="*/ 283503 w 9861754"/>
              <a:gd name="csY5" fmla="*/ 403123 h 686626"/>
              <a:gd name="csX6" fmla="*/ 0 w 9861754"/>
              <a:gd name="csY6" fmla="*/ 686626 h 686626"/>
              <a:gd name="csX7" fmla="*/ 0 w 9861754"/>
              <a:gd name="csY7" fmla="*/ 283503 h 686626"/>
              <a:gd name="csX8" fmla="*/ 283503 w 9861754"/>
              <a:gd name="csY8" fmla="*/ 0 h 6866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9861754" h="686626">
                <a:moveTo>
                  <a:pt x="283503" y="0"/>
                </a:moveTo>
                <a:lnTo>
                  <a:pt x="9578251" y="0"/>
                </a:lnTo>
                <a:cubicBezTo>
                  <a:pt x="9734825" y="0"/>
                  <a:pt x="9861754" y="126929"/>
                  <a:pt x="9861754" y="283503"/>
                </a:cubicBezTo>
                <a:lnTo>
                  <a:pt x="9861754" y="686626"/>
                </a:lnTo>
                <a:cubicBezTo>
                  <a:pt x="9861754" y="530052"/>
                  <a:pt x="9734825" y="403123"/>
                  <a:pt x="9578251" y="403123"/>
                </a:cubicBezTo>
                <a:lnTo>
                  <a:pt x="283503" y="403123"/>
                </a:lnTo>
                <a:cubicBezTo>
                  <a:pt x="126929" y="403123"/>
                  <a:pt x="0" y="530052"/>
                  <a:pt x="0" y="686626"/>
                </a:cubicBezTo>
                <a:lnTo>
                  <a:pt x="0" y="283503"/>
                </a:lnTo>
                <a:cubicBezTo>
                  <a:pt x="0" y="126929"/>
                  <a:pt x="126929" y="0"/>
                  <a:pt x="283503" y="0"/>
                </a:cubicBezTo>
                <a:close/>
              </a:path>
            </a:pathLst>
          </a:custGeom>
          <a:solidFill>
            <a:srgbClr val="00B0F0"/>
          </a:solidFill>
          <a:ln>
            <a:solidFill>
              <a:srgbClr val="00B0F0"/>
            </a:solidFill>
          </a:ln>
        </p:spPr>
        <p:style>
          <a:lnRef idx="3">
            <a:schemeClr val="lt1"/>
          </a:lnRef>
          <a:fillRef idx="1">
            <a:schemeClr val="accent4"/>
          </a:fillRef>
          <a:effectRef idx="1">
            <a:schemeClr val="accent4"/>
          </a:effectRef>
          <a:fontRef idx="minor">
            <a:schemeClr val="lt1"/>
          </a:fontRef>
        </p:style>
        <p:txBody>
          <a:bodyPr wrap="square" rtlCol="0" anchor="ctr">
            <a:noAutofit/>
          </a:bodyPr>
          <a:lstStyle/>
          <a:p>
            <a:pPr algn="ctr"/>
            <a:endParaRPr lang="en-IN" dirty="0"/>
          </a:p>
        </p:txBody>
      </p:sp>
      <p:sp>
        <p:nvSpPr>
          <p:cNvPr id="12" name="Rectangle: Rounded Corners 11">
            <a:extLst>
              <a:ext uri="{FF2B5EF4-FFF2-40B4-BE49-F238E27FC236}">
                <a16:creationId xmlns:a16="http://schemas.microsoft.com/office/drawing/2014/main" id="{7C5AAC5A-7ED0-68F8-8AC5-F388BC2FE97C}"/>
              </a:ext>
            </a:extLst>
          </p:cNvPr>
          <p:cNvSpPr/>
          <p:nvPr/>
        </p:nvSpPr>
        <p:spPr>
          <a:xfrm>
            <a:off x="1165123" y="1828801"/>
            <a:ext cx="9861754" cy="1700981"/>
          </a:xfrm>
          <a:prstGeom prst="roundRect">
            <a:avLst/>
          </a:prstGeom>
          <a:solidFill>
            <a:schemeClr val="bg1"/>
          </a:solidFill>
          <a:ln>
            <a:solidFill>
              <a:srgbClr val="00B0F0"/>
            </a:solidFill>
          </a:ln>
        </p:spPr>
        <p:style>
          <a:lnRef idx="3">
            <a:schemeClr val="lt1"/>
          </a:lnRef>
          <a:fillRef idx="1">
            <a:schemeClr val="accent4"/>
          </a:fillRef>
          <a:effectRef idx="1">
            <a:schemeClr val="accent4"/>
          </a:effectRef>
          <a:fontRef idx="minor">
            <a:schemeClr val="lt1"/>
          </a:fontRef>
        </p:style>
        <p:txBody>
          <a:bodyPr rtlCol="0" anchor="ctr"/>
          <a:lstStyle/>
          <a:p>
            <a:pPr algn="ctr"/>
            <a:r>
              <a:rPr lang="en-IN" sz="4000" dirty="0">
                <a:solidFill>
                  <a:schemeClr val="tx1">
                    <a:lumMod val="95000"/>
                    <a:lumOff val="5000"/>
                  </a:schemeClr>
                </a:solidFill>
              </a:rPr>
              <a:t>Scholarship Eligibility Prediction</a:t>
            </a:r>
            <a:endParaRPr lang="en-IN" sz="4000" b="1" dirty="0">
              <a:solidFill>
                <a:schemeClr val="tx1">
                  <a:lumMod val="95000"/>
                  <a:lumOff val="5000"/>
                </a:schemeClr>
              </a:solidFill>
            </a:endParaRPr>
          </a:p>
        </p:txBody>
      </p:sp>
      <p:sp>
        <p:nvSpPr>
          <p:cNvPr id="15" name="Rectangle: Rounded Corners 14">
            <a:extLst>
              <a:ext uri="{FF2B5EF4-FFF2-40B4-BE49-F238E27FC236}">
                <a16:creationId xmlns:a16="http://schemas.microsoft.com/office/drawing/2014/main" id="{A31C8AA7-8A00-43DA-CB19-F61E86F71520}"/>
              </a:ext>
            </a:extLst>
          </p:cNvPr>
          <p:cNvSpPr/>
          <p:nvPr/>
        </p:nvSpPr>
        <p:spPr>
          <a:xfrm>
            <a:off x="1435509" y="1496553"/>
            <a:ext cx="2196000" cy="288000"/>
          </a:xfrm>
          <a:prstGeom prst="roundRect">
            <a:avLst>
              <a:gd name="adj" fmla="val 50000"/>
            </a:avLst>
          </a:prstGeom>
          <a:solidFill>
            <a:schemeClr val="bg1"/>
          </a:solidFill>
          <a:ln>
            <a:solidFill>
              <a:srgbClr val="00B0F0"/>
            </a:solidFill>
          </a:ln>
        </p:spPr>
        <p:style>
          <a:lnRef idx="3">
            <a:schemeClr val="lt1"/>
          </a:lnRef>
          <a:fillRef idx="1">
            <a:schemeClr val="accent4"/>
          </a:fillRef>
          <a:effectRef idx="1">
            <a:schemeClr val="accent4"/>
          </a:effectRef>
          <a:fontRef idx="minor">
            <a:schemeClr val="lt1"/>
          </a:fontRef>
        </p:style>
        <p:txBody>
          <a:bodyPr rtlCol="0" anchor="ctr"/>
          <a:lstStyle/>
          <a:p>
            <a:pPr algn="ctr"/>
            <a:r>
              <a:rPr lang="en-IN" sz="1400" b="1" spc="300" dirty="0">
                <a:solidFill>
                  <a:srgbClr val="00B0F0"/>
                </a:solidFill>
                <a:latin typeface="Cambria" panose="02040503050406030204" pitchFamily="18" charset="0"/>
                <a:ea typeface="Cambria" panose="02040503050406030204" pitchFamily="18" charset="0"/>
              </a:rPr>
              <a:t>PROJECT TITLE</a:t>
            </a:r>
          </a:p>
        </p:txBody>
      </p:sp>
      <p:sp>
        <p:nvSpPr>
          <p:cNvPr id="16" name="Rectangle: Rounded Corners 15">
            <a:extLst>
              <a:ext uri="{FF2B5EF4-FFF2-40B4-BE49-F238E27FC236}">
                <a16:creationId xmlns:a16="http://schemas.microsoft.com/office/drawing/2014/main" id="{7FF359E9-B6DD-9EEB-2E3E-7BE5FDBEC5AC}"/>
              </a:ext>
            </a:extLst>
          </p:cNvPr>
          <p:cNvSpPr/>
          <p:nvPr/>
        </p:nvSpPr>
        <p:spPr>
          <a:xfrm>
            <a:off x="4575968" y="1496553"/>
            <a:ext cx="6120000" cy="288000"/>
          </a:xfrm>
          <a:prstGeom prst="roundRect">
            <a:avLst>
              <a:gd name="adj" fmla="val 50000"/>
            </a:avLst>
          </a:prstGeom>
          <a:solidFill>
            <a:schemeClr val="accent4">
              <a:lumMod val="20000"/>
              <a:lumOff val="80000"/>
            </a:schemeClr>
          </a:solidFill>
          <a:ln>
            <a:solidFill>
              <a:schemeClr val="bg1"/>
            </a:solidFill>
          </a:ln>
        </p:spPr>
        <p:style>
          <a:lnRef idx="3">
            <a:schemeClr val="lt1"/>
          </a:lnRef>
          <a:fillRef idx="1">
            <a:schemeClr val="accent4"/>
          </a:fillRef>
          <a:effectRef idx="1">
            <a:schemeClr val="accent4"/>
          </a:effectRef>
          <a:fontRef idx="minor">
            <a:schemeClr val="lt1"/>
          </a:fontRef>
        </p:style>
        <p:txBody>
          <a:bodyPr rtlCol="0" anchor="ctr"/>
          <a:lstStyle/>
          <a:p>
            <a:pPr algn="ctr"/>
            <a:r>
              <a:rPr lang="en-IN" sz="1400" b="1" spc="300" dirty="0">
                <a:solidFill>
                  <a:schemeClr val="tx1"/>
                </a:solidFill>
                <a:latin typeface="Cambria" panose="02040503050406030204" pitchFamily="18" charset="0"/>
                <a:ea typeface="Cambria" panose="02040503050406030204" pitchFamily="18" charset="0"/>
              </a:rPr>
              <a:t>AD4V71 – DATA SCIENCE</a:t>
            </a:r>
          </a:p>
        </p:txBody>
      </p:sp>
      <p:sp>
        <p:nvSpPr>
          <p:cNvPr id="17" name="Rectangle 9">
            <a:extLst>
              <a:ext uri="{FF2B5EF4-FFF2-40B4-BE49-F238E27FC236}">
                <a16:creationId xmlns:a16="http://schemas.microsoft.com/office/drawing/2014/main" id="{4FF3B8A7-62C3-3747-13B5-05CE7377D05F}"/>
              </a:ext>
            </a:extLst>
          </p:cNvPr>
          <p:cNvSpPr>
            <a:spLocks noChangeArrowheads="1"/>
          </p:cNvSpPr>
          <p:nvPr/>
        </p:nvSpPr>
        <p:spPr bwMode="auto">
          <a:xfrm>
            <a:off x="2556386" y="3564197"/>
            <a:ext cx="7079227" cy="2585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0" algn="ctr" eaLnBrk="0" hangingPunct="0">
              <a:lnSpc>
                <a:spcPct val="150000"/>
              </a:lnSpc>
              <a:spcBef>
                <a:spcPct val="0"/>
              </a:spcBef>
              <a:buNone/>
              <a:defRPr/>
            </a:pPr>
            <a:r>
              <a:rPr lang="en-US" altLang="en-US" sz="1700" b="1" dirty="0">
                <a:solidFill>
                  <a:srgbClr val="00B0F0"/>
                </a:solidFill>
                <a:latin typeface="Times New Roman" panose="02020603050405020304" pitchFamily="18" charset="0"/>
                <a:cs typeface="Times New Roman" panose="02020603050405020304" pitchFamily="18" charset="0"/>
              </a:rPr>
              <a:t>Presenting By</a:t>
            </a:r>
          </a:p>
          <a:p>
            <a:pPr lvl="0" eaLnBrk="0" hangingPunct="0">
              <a:lnSpc>
                <a:spcPct val="150000"/>
              </a:lnSpc>
              <a:spcBef>
                <a:spcPct val="0"/>
              </a:spcBef>
              <a:buNone/>
              <a:defRPr/>
            </a:pPr>
            <a:r>
              <a:rPr lang="en-US" altLang="en-US" sz="1500" b="1" dirty="0">
                <a:solidFill>
                  <a:srgbClr val="00B0F0"/>
                </a:solidFill>
                <a:latin typeface="Times New Roman" panose="02020603050405020304" pitchFamily="18" charset="0"/>
                <a:cs typeface="Times New Roman" panose="02020603050405020304" pitchFamily="18" charset="0"/>
              </a:rPr>
              <a:t>Team Member 1 Name	:</a:t>
            </a:r>
            <a:r>
              <a:rPr lang="en-US" altLang="en-US" sz="1500" b="1" dirty="0" err="1">
                <a:solidFill>
                  <a:srgbClr val="00B0F0"/>
                </a:solidFill>
                <a:latin typeface="Times New Roman" panose="02020603050405020304" pitchFamily="18" charset="0"/>
                <a:cs typeface="Times New Roman" panose="02020603050405020304" pitchFamily="18" charset="0"/>
              </a:rPr>
              <a:t>Kirutick</a:t>
            </a:r>
            <a:r>
              <a:rPr lang="en-US" altLang="en-US" sz="1500" b="1" dirty="0">
                <a:solidFill>
                  <a:srgbClr val="00B0F0"/>
                </a:solidFill>
                <a:latin typeface="Times New Roman" panose="02020603050405020304" pitchFamily="18" charset="0"/>
                <a:cs typeface="Times New Roman" panose="02020603050405020304" pitchFamily="18" charset="0"/>
              </a:rPr>
              <a:t> </a:t>
            </a:r>
            <a:r>
              <a:rPr lang="en-US" altLang="en-US" sz="1500" b="1" dirty="0" err="1">
                <a:solidFill>
                  <a:srgbClr val="00B0F0"/>
                </a:solidFill>
                <a:latin typeface="Times New Roman" panose="02020603050405020304" pitchFamily="18" charset="0"/>
                <a:cs typeface="Times New Roman" panose="02020603050405020304" pitchFamily="18" charset="0"/>
              </a:rPr>
              <a:t>Siddhesh</a:t>
            </a:r>
            <a:r>
              <a:rPr lang="en-US" altLang="en-US" sz="1500" b="1" dirty="0">
                <a:solidFill>
                  <a:srgbClr val="00B0F0"/>
                </a:solidFill>
                <a:latin typeface="Times New Roman" panose="02020603050405020304" pitchFamily="18" charset="0"/>
                <a:cs typeface="Times New Roman" panose="02020603050405020304" pitchFamily="18" charset="0"/>
              </a:rPr>
              <a:t> V</a:t>
            </a:r>
          </a:p>
          <a:p>
            <a:pPr lvl="0" eaLnBrk="0" hangingPunct="0">
              <a:lnSpc>
                <a:spcPct val="150000"/>
              </a:lnSpc>
              <a:spcBef>
                <a:spcPct val="0"/>
              </a:spcBef>
              <a:buNone/>
              <a:defRPr/>
            </a:pPr>
            <a:r>
              <a:rPr lang="en-US" altLang="en-US" sz="1500" b="1" dirty="0">
                <a:solidFill>
                  <a:srgbClr val="00B0F0"/>
                </a:solidFill>
                <a:latin typeface="Times New Roman" panose="02020603050405020304" pitchFamily="18" charset="0"/>
                <a:cs typeface="Times New Roman" panose="02020603050405020304" pitchFamily="18" charset="0"/>
              </a:rPr>
              <a:t>Team Member 1 </a:t>
            </a:r>
            <a:r>
              <a:rPr lang="en-US" altLang="en-US" sz="1500" b="1" dirty="0" err="1">
                <a:solidFill>
                  <a:srgbClr val="00B0F0"/>
                </a:solidFill>
                <a:latin typeface="Times New Roman" panose="02020603050405020304" pitchFamily="18" charset="0"/>
                <a:cs typeface="Times New Roman" panose="02020603050405020304" pitchFamily="18" charset="0"/>
              </a:rPr>
              <a:t>Regd</a:t>
            </a:r>
            <a:r>
              <a:rPr lang="en-US" altLang="en-US" sz="1500" b="1" dirty="0">
                <a:solidFill>
                  <a:srgbClr val="00B0F0"/>
                </a:solidFill>
                <a:latin typeface="Times New Roman" panose="02020603050405020304" pitchFamily="18" charset="0"/>
                <a:cs typeface="Times New Roman" panose="02020603050405020304" pitchFamily="18" charset="0"/>
              </a:rPr>
              <a:t> No.	:210425243120</a:t>
            </a:r>
          </a:p>
          <a:p>
            <a:pPr lvl="0" eaLnBrk="0" hangingPunct="0">
              <a:lnSpc>
                <a:spcPct val="150000"/>
              </a:lnSpc>
              <a:spcBef>
                <a:spcPct val="0"/>
              </a:spcBef>
              <a:buNone/>
              <a:defRPr/>
            </a:pPr>
            <a:r>
              <a:rPr lang="en-US" altLang="en-US" sz="1500" b="1" dirty="0">
                <a:solidFill>
                  <a:srgbClr val="00B0F0"/>
                </a:solidFill>
                <a:latin typeface="Times New Roman" panose="02020603050405020304" pitchFamily="18" charset="0"/>
                <a:cs typeface="Times New Roman" panose="02020603050405020304" pitchFamily="18" charset="0"/>
              </a:rPr>
              <a:t>Team Member 1 Section	:C</a:t>
            </a:r>
          </a:p>
          <a:p>
            <a:pPr lvl="0" eaLnBrk="0" hangingPunct="0">
              <a:lnSpc>
                <a:spcPct val="150000"/>
              </a:lnSpc>
              <a:spcBef>
                <a:spcPct val="0"/>
              </a:spcBef>
              <a:buNone/>
              <a:defRPr/>
            </a:pPr>
            <a:r>
              <a:rPr lang="en-US" altLang="en-US" sz="1500" b="1" dirty="0">
                <a:solidFill>
                  <a:srgbClr val="00B0F0"/>
                </a:solidFill>
                <a:latin typeface="Times New Roman" panose="02020603050405020304" pitchFamily="18" charset="0"/>
                <a:cs typeface="Times New Roman" panose="02020603050405020304" pitchFamily="18" charset="0"/>
              </a:rPr>
              <a:t>Team Member 2 Name	:Krishna H</a:t>
            </a:r>
          </a:p>
          <a:p>
            <a:pPr lvl="0" eaLnBrk="0" hangingPunct="0">
              <a:lnSpc>
                <a:spcPct val="150000"/>
              </a:lnSpc>
              <a:spcBef>
                <a:spcPct val="0"/>
              </a:spcBef>
              <a:buNone/>
              <a:defRPr/>
            </a:pPr>
            <a:r>
              <a:rPr lang="en-US" altLang="en-US" sz="1500" b="1" dirty="0">
                <a:solidFill>
                  <a:srgbClr val="00B0F0"/>
                </a:solidFill>
                <a:latin typeface="Times New Roman" panose="02020603050405020304" pitchFamily="18" charset="0"/>
                <a:cs typeface="Times New Roman" panose="02020603050405020304" pitchFamily="18" charset="0"/>
              </a:rPr>
              <a:t>Team Member 2 </a:t>
            </a:r>
            <a:r>
              <a:rPr lang="en-US" altLang="en-US" sz="1500" b="1" dirty="0" err="1">
                <a:solidFill>
                  <a:srgbClr val="00B0F0"/>
                </a:solidFill>
                <a:latin typeface="Times New Roman" panose="02020603050405020304" pitchFamily="18" charset="0"/>
                <a:cs typeface="Times New Roman" panose="02020603050405020304" pitchFamily="18" charset="0"/>
              </a:rPr>
              <a:t>Regd</a:t>
            </a:r>
            <a:r>
              <a:rPr lang="en-US" altLang="en-US" sz="1500" b="1" dirty="0">
                <a:solidFill>
                  <a:srgbClr val="00B0F0"/>
                </a:solidFill>
                <a:latin typeface="Times New Roman" panose="02020603050405020304" pitchFamily="18" charset="0"/>
                <a:cs typeface="Times New Roman" panose="02020603050405020304" pitchFamily="18" charset="0"/>
              </a:rPr>
              <a:t> No.	:210425243124</a:t>
            </a:r>
          </a:p>
          <a:p>
            <a:pPr eaLnBrk="0" hangingPunct="0">
              <a:lnSpc>
                <a:spcPct val="150000"/>
              </a:lnSpc>
              <a:spcBef>
                <a:spcPct val="0"/>
              </a:spcBef>
              <a:buNone/>
              <a:defRPr/>
            </a:pPr>
            <a:r>
              <a:rPr lang="en-US" altLang="en-US" sz="1500" b="1" dirty="0">
                <a:solidFill>
                  <a:srgbClr val="00B0F0"/>
                </a:solidFill>
                <a:latin typeface="Times New Roman" panose="02020603050405020304" pitchFamily="18" charset="0"/>
                <a:cs typeface="Times New Roman" panose="02020603050405020304" pitchFamily="18" charset="0"/>
              </a:rPr>
              <a:t>Team Member 2 Section	:C</a:t>
            </a:r>
          </a:p>
        </p:txBody>
      </p:sp>
    </p:spTree>
    <p:extLst>
      <p:ext uri="{BB962C8B-B14F-4D97-AF65-F5344CB8AC3E}">
        <p14:creationId xmlns:p14="http://schemas.microsoft.com/office/powerpoint/2010/main" val="16434798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FFD572-E9A6-80A3-3108-E6249327F1AC}"/>
              </a:ext>
            </a:extLst>
          </p:cNvPr>
          <p:cNvSpPr>
            <a:spLocks noGrp="1"/>
          </p:cNvSpPr>
          <p:nvPr>
            <p:ph type="title"/>
          </p:nvPr>
        </p:nvSpPr>
        <p:spPr>
          <a:xfrm>
            <a:off x="346587" y="178313"/>
            <a:ext cx="10515600" cy="903236"/>
          </a:xfrm>
        </p:spPr>
        <p:txBody>
          <a:bodyPr>
            <a:normAutofit fontScale="90000"/>
          </a:bodyPr>
          <a:lstStyle/>
          <a:p>
            <a:pPr>
              <a:defRPr sz="3200" b="1">
                <a:solidFill>
                  <a:srgbClr val="00B0F0"/>
                </a:solidFill>
                <a:latin typeface="Cambria"/>
              </a:defRPr>
            </a:pPr>
            <a:r>
              <a:t>Problem Identification and Title Justification</a:t>
            </a:r>
          </a:p>
        </p:txBody>
      </p:sp>
      <p:sp>
        <p:nvSpPr>
          <p:cNvPr id="4" name="Content Placeholder 2">
            <a:extLst>
              <a:ext uri="{FF2B5EF4-FFF2-40B4-BE49-F238E27FC236}">
                <a16:creationId xmlns:a16="http://schemas.microsoft.com/office/drawing/2014/main" id="{6EF6F9EB-29FA-2E6E-4AD4-D893A5BF36B5}"/>
              </a:ext>
            </a:extLst>
          </p:cNvPr>
          <p:cNvSpPr>
            <a:spLocks noGrp="1"/>
          </p:cNvSpPr>
          <p:nvPr>
            <p:ph idx="1"/>
          </p:nvPr>
        </p:nvSpPr>
        <p:spPr>
          <a:xfrm>
            <a:off x="346587" y="1455174"/>
            <a:ext cx="11471787" cy="4721789"/>
          </a:xfrm>
        </p:spPr>
        <p:txBody>
          <a:bodyPr>
            <a:normAutofit fontScale="77500" lnSpcReduction="20000"/>
          </a:bodyPr>
          <a:lstStyle/>
          <a:p>
            <a:pPr>
              <a:defRPr b="1" sz="1700">
                <a:solidFill>
                  <a:srgbClr val="00B0F0"/>
                </a:solidFill>
                <a:latin typeface="Calibri"/>
              </a:defRPr>
            </a:pPr>
            <a:r>
              <a:t>Relevance of the Problem</a:t>
            </a:r>
          </a:p>
          <a:p>
            <a:pPr>
              <a:defRPr b="0" sz="1350">
                <a:solidFill>
                  <a:srgbClr val="262626"/>
                </a:solidFill>
                <a:latin typeface="Calibri"/>
              </a:defRPr>
            </a:pPr>
            <a:r>
              <a:t>Scholarship screening in higher education traditionally requires checking multiple academic, financial, and demographic criteria across student applications. An automated prediction system can assist institutional review committees in screening applications efficiently based on objective criteria.</a:t>
            </a:r>
          </a:p>
          <a:p>
            <a:pPr>
              <a:defRPr b="0" sz="600">
                <a:solidFill>
                  <a:srgbClr val="262626"/>
                </a:solidFill>
                <a:latin typeface="Calibri"/>
              </a:defRPr>
            </a:pPr>
          </a:p>
          <a:p>
            <a:pPr>
              <a:defRPr b="1" sz="1700">
                <a:solidFill>
                  <a:srgbClr val="00B0F0"/>
                </a:solidFill>
                <a:latin typeface="Calibri"/>
              </a:defRPr>
            </a:pPr>
            <a:r>
              <a:t>Problem Statement</a:t>
            </a:r>
          </a:p>
          <a:p>
            <a:pPr>
              <a:defRPr b="0" sz="1350">
                <a:solidFill>
                  <a:srgbClr val="262626"/>
                </a:solidFill>
                <a:latin typeface="Calibri"/>
              </a:defRPr>
            </a:pPr>
            <a:r>
              <a:t>Determining scholarship eligibility involves evaluating multiple criteria. This project develops a machine-learning classification pipeline that predicts whether a student application is predicted as Eligible or Not Eligible based on available student attributes.</a:t>
            </a:r>
          </a:p>
          <a:p>
            <a:pPr>
              <a:defRPr b="0" sz="600">
                <a:solidFill>
                  <a:srgbClr val="262626"/>
                </a:solidFill>
                <a:latin typeface="Calibri"/>
              </a:defRPr>
            </a:pPr>
          </a:p>
          <a:p>
            <a:pPr>
              <a:defRPr b="1" sz="1700">
                <a:solidFill>
                  <a:srgbClr val="00B0F0"/>
                </a:solidFill>
                <a:latin typeface="Calibri"/>
              </a:defRPr>
            </a:pPr>
            <a:r>
              <a:t>Title Justification and Scope</a:t>
            </a:r>
          </a:p>
          <a:p>
            <a:pPr>
              <a:defRPr b="0" sz="1350">
                <a:solidFill>
                  <a:srgbClr val="262626"/>
                </a:solidFill>
                <a:latin typeface="Calibri"/>
              </a:defRPr>
            </a:pPr>
            <a:r>
              <a:t>The title "Scholarship Eligibility Prediction" accurately represents the machine-learning classification task using academic and financial attributes. The project scope includes data preprocessing, exploratory data analysis, feature engineering, classification model benchmarking, evaluation, and decision-support prediction, while explicitly excluding official scholarship approval, fund allocation, and document verification.</a:t>
            </a:r>
          </a:p>
        </p:txBody>
      </p:sp>
    </p:spTree>
    <p:extLst>
      <p:ext uri="{BB962C8B-B14F-4D97-AF65-F5344CB8AC3E}">
        <p14:creationId xmlns:p14="http://schemas.microsoft.com/office/powerpoint/2010/main" val="25259503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383EFA-F30B-ABC2-3E3E-D2D402AB62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B78B2E-7046-F166-0F2C-D7284DA7E059}"/>
              </a:ext>
            </a:extLst>
          </p:cNvPr>
          <p:cNvSpPr>
            <a:spLocks noGrp="1"/>
          </p:cNvSpPr>
          <p:nvPr>
            <p:ph type="title"/>
          </p:nvPr>
        </p:nvSpPr>
        <p:spPr>
          <a:xfrm>
            <a:off x="346587" y="178313"/>
            <a:ext cx="10515600" cy="903236"/>
          </a:xfrm>
        </p:spPr>
        <p:txBody>
          <a:bodyPr>
            <a:normAutofit fontScale="90000"/>
          </a:bodyPr>
          <a:lstStyle/>
          <a:p>
            <a:pPr>
              <a:defRPr sz="3400" b="1">
                <a:solidFill>
                  <a:srgbClr val="00B0F0"/>
                </a:solidFill>
                <a:latin typeface="Cambria"/>
              </a:defRPr>
            </a:pPr>
            <a:r>
              <a:t>Basic Concepts Related to the Project</a:t>
            </a:r>
          </a:p>
        </p:txBody>
      </p:sp>
      <p:sp>
        <p:nvSpPr>
          <p:cNvPr id="4" name="Content Placeholder 2">
            <a:extLst>
              <a:ext uri="{FF2B5EF4-FFF2-40B4-BE49-F238E27FC236}">
                <a16:creationId xmlns:a16="http://schemas.microsoft.com/office/drawing/2014/main" id="{4B3BA888-C95F-7FF5-8D24-31C018859399}"/>
              </a:ext>
            </a:extLst>
          </p:cNvPr>
          <p:cNvSpPr>
            <a:spLocks noGrp="1"/>
          </p:cNvSpPr>
          <p:nvPr>
            <p:ph idx="1"/>
          </p:nvPr>
        </p:nvSpPr>
        <p:spPr>
          <a:xfrm>
            <a:off x="346587" y="1081549"/>
            <a:ext cx="11471787" cy="5121791"/>
          </a:xfrm>
        </p:spPr>
        <p:txBody>
          <a:bodyPr>
            <a:normAutofit fontScale="55000" lnSpcReduction="20000"/>
          </a:bodyPr>
          <a:lstStyle/>
          <a:p>
            <a:pPr>
              <a:spcAft>
                <a:spcPts val="800"/>
              </a:spcAft>
            </a:pPr>
            <a:r>
              <a:rPr b="1" sz="1400">
                <a:solidFill>
                  <a:srgbClr val="00B0F0"/>
                </a:solidFill>
                <a:latin typeface="Calibri"/>
              </a:rPr>
              <a:t>Machine Learning: </a:t>
            </a:r>
            <a:r>
              <a:rPr b="0" sz="1300">
                <a:solidFill>
                  <a:srgbClr val="262626"/>
                </a:solidFill>
                <a:latin typeface="Calibri"/>
              </a:rPr>
              <a:t>Enables computer systems to learn patterns from historical student data to make predictions without being explicitly hardcoded.</a:t>
            </a:r>
          </a:p>
          <a:p>
            <a:pPr>
              <a:spcAft>
                <a:spcPts val="800"/>
              </a:spcAft>
            </a:pPr>
            <a:r>
              <a:rPr b="1" sz="1400">
                <a:solidFill>
                  <a:srgbClr val="00B0F0"/>
                </a:solidFill>
                <a:latin typeface="Calibri"/>
              </a:rPr>
              <a:t>Classification: </a:t>
            </a:r>
            <a:r>
              <a:rPr b="0" sz="1300">
                <a:solidFill>
                  <a:srgbClr val="262626"/>
                </a:solidFill>
                <a:latin typeface="Calibri"/>
              </a:rPr>
              <a:t>A supervised learning task that categorizes student applications into discrete classes (Eligible or Not Eligible).</a:t>
            </a:r>
          </a:p>
          <a:p>
            <a:pPr>
              <a:spcAft>
                <a:spcPts val="800"/>
              </a:spcAft>
            </a:pPr>
            <a:r>
              <a:rPr b="1" sz="1400">
                <a:solidFill>
                  <a:srgbClr val="00B0F0"/>
                </a:solidFill>
                <a:latin typeface="Calibri"/>
              </a:rPr>
              <a:t>Dataset: </a:t>
            </a:r>
            <a:r>
              <a:rPr b="0" sz="1300">
                <a:solidFill>
                  <a:srgbClr val="262626"/>
                </a:solidFill>
                <a:latin typeface="Calibri"/>
              </a:rPr>
              <a:t>A structured collection of academic, financial, and demographic student attributes used for model training and evaluation.</a:t>
            </a:r>
          </a:p>
          <a:p>
            <a:pPr>
              <a:spcAft>
                <a:spcPts val="800"/>
              </a:spcAft>
            </a:pPr>
            <a:r>
              <a:rPr b="1" sz="1400">
                <a:solidFill>
                  <a:srgbClr val="00B0F0"/>
                </a:solidFill>
                <a:latin typeface="Calibri"/>
              </a:rPr>
              <a:t>Data Preprocessing: </a:t>
            </a:r>
            <a:r>
              <a:rPr b="0" sz="1300">
                <a:solidFill>
                  <a:srgbClr val="262626"/>
                </a:solidFill>
                <a:latin typeface="Calibri"/>
              </a:rPr>
              <a:t>Cleaning, handling categorical encodings, and scaling numerical features into standardized formats for algorithms.</a:t>
            </a:r>
          </a:p>
          <a:p>
            <a:pPr>
              <a:spcAft>
                <a:spcPts val="800"/>
              </a:spcAft>
            </a:pPr>
            <a:r>
              <a:rPr b="1" sz="1400">
                <a:solidFill>
                  <a:srgbClr val="00B0F0"/>
                </a:solidFill>
                <a:latin typeface="Calibri"/>
              </a:rPr>
              <a:t>Feature Selection / Engineering: </a:t>
            </a:r>
            <a:r>
              <a:rPr b="0" sz="1300">
                <a:solidFill>
                  <a:srgbClr val="262626"/>
                </a:solidFill>
                <a:latin typeface="Calibri"/>
              </a:rPr>
              <a:t>Identifying and transforming key predictor attributes (e.g., family income, board marks) that contribute to predictions.</a:t>
            </a:r>
          </a:p>
          <a:p>
            <a:pPr>
              <a:spcAft>
                <a:spcPts val="800"/>
              </a:spcAft>
            </a:pPr>
            <a:r>
              <a:rPr b="1" sz="1400">
                <a:solidFill>
                  <a:srgbClr val="00B0F0"/>
                </a:solidFill>
                <a:latin typeface="Calibri"/>
              </a:rPr>
              <a:t>Model Training: </a:t>
            </a:r>
            <a:r>
              <a:rPr b="0" sz="1300">
                <a:solidFill>
                  <a:srgbClr val="262626"/>
                </a:solidFill>
                <a:latin typeface="Calibri"/>
              </a:rPr>
              <a:t>Fitting classification algorithms on training data using supervised learning to minimize prediction error.</a:t>
            </a:r>
          </a:p>
          <a:p>
            <a:pPr>
              <a:spcAft>
                <a:spcPts val="800"/>
              </a:spcAft>
            </a:pPr>
            <a:r>
              <a:rPr b="1" sz="1400">
                <a:solidFill>
                  <a:srgbClr val="00B0F0"/>
                </a:solidFill>
                <a:latin typeface="Calibri"/>
              </a:rPr>
              <a:t>Prediction System: </a:t>
            </a:r>
            <a:r>
              <a:rPr b="0" sz="1300">
                <a:solidFill>
                  <a:srgbClr val="262626"/>
                </a:solidFill>
                <a:latin typeface="Calibri"/>
              </a:rPr>
              <a:t>Evaluating new student attribute inputs through the trained pipeline to output predicted eligibility with confidence scores.</a:t>
            </a:r>
          </a:p>
        </p:txBody>
      </p:sp>
    </p:spTree>
    <p:extLst>
      <p:ext uri="{BB962C8B-B14F-4D97-AF65-F5344CB8AC3E}">
        <p14:creationId xmlns:p14="http://schemas.microsoft.com/office/powerpoint/2010/main" val="27349486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C2D18-5736-B13B-9BAE-592388EF2C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FB9106-6964-3A58-AFB7-B90897BBEE81}"/>
              </a:ext>
            </a:extLst>
          </p:cNvPr>
          <p:cNvSpPr>
            <a:spLocks noGrp="1"/>
          </p:cNvSpPr>
          <p:nvPr>
            <p:ph type="title"/>
          </p:nvPr>
        </p:nvSpPr>
        <p:spPr>
          <a:xfrm>
            <a:off x="346587" y="0"/>
            <a:ext cx="10515600" cy="903236"/>
          </a:xfrm>
        </p:spPr>
        <p:txBody>
          <a:bodyPr>
            <a:normAutofit/>
          </a:bodyPr>
          <a:lstStyle/>
          <a:p>
            <a:pPr>
              <a:defRPr sz="3400" b="1">
                <a:solidFill>
                  <a:srgbClr val="00B0F0"/>
                </a:solidFill>
                <a:latin typeface="Cambria"/>
              </a:defRPr>
            </a:pPr>
            <a:r>
              <a:t>Literature Survey &amp; Research Gap</a:t>
            </a:r>
          </a:p>
        </p:txBody>
      </p:sp>
      <p:sp>
        <p:nvSpPr>
          <p:cNvPr id="4" name="Content Placeholder 2">
            <a:extLst>
              <a:ext uri="{FF2B5EF4-FFF2-40B4-BE49-F238E27FC236}">
                <a16:creationId xmlns:a16="http://schemas.microsoft.com/office/drawing/2014/main" id="{3D2BED25-8281-A88F-D898-0F4C7B91CC10}"/>
              </a:ext>
            </a:extLst>
          </p:cNvPr>
          <p:cNvSpPr>
            <a:spLocks noGrp="1"/>
          </p:cNvSpPr>
          <p:nvPr>
            <p:ph idx="1"/>
          </p:nvPr>
        </p:nvSpPr>
        <p:spPr>
          <a:xfrm>
            <a:off x="346587" y="1081550"/>
            <a:ext cx="11736556" cy="5310458"/>
          </a:xfrm>
        </p:spPr>
        <p:txBody>
          <a:bodyPr>
            <a:normAutofit fontScale="62500" lnSpcReduction="20000"/>
          </a:bodyPr>
          <a:lstStyle/>
          <a:p>
            <a:pPr marL="0" indent="0">
              <a:buNone/>
              <a:defRPr b="1" sz="1500">
                <a:solidFill>
                  <a:srgbClr val="00B0F0"/>
                </a:solidFill>
                <a:latin typeface="Calibri"/>
              </a:defRPr>
            </a:pPr>
            <a:r>
              <a:t>Related Systems Survey:</a:t>
            </a:r>
          </a:p>
          <a:p>
            <a:pPr>
              <a:defRPr b="0" sz="1200">
                <a:solidFill>
                  <a:srgbClr val="262626"/>
                </a:solidFill>
                <a:latin typeface="Calibri"/>
              </a:defRPr>
            </a:pPr>
            <a:r>
              <a:t>  1. Scholarship Recommender: Suggests scholarships | Limitation: No eligibility prediction</a:t>
            </a:r>
          </a:p>
          <a:p>
            <a:pPr>
              <a:defRPr b="0" sz="1200">
                <a:solidFill>
                  <a:srgbClr val="262626"/>
                </a:solidFill>
                <a:latin typeface="Calibri"/>
              </a:defRPr>
            </a:pPr>
            <a:r>
              <a:t>  2. Financial Aid Predictor: Uses income data | Limitation: Limited academic factors considered</a:t>
            </a:r>
          </a:p>
          <a:p>
            <a:pPr>
              <a:defRPr b="0" sz="1200">
                <a:solidFill>
                  <a:srgbClr val="262626"/>
                </a:solidFill>
                <a:latin typeface="Calibri"/>
              </a:defRPr>
            </a:pPr>
            <a:r>
              <a:t>  3. AI Screening System: Faster evaluation | Limitation: Requires very large enterprise datasets</a:t>
            </a:r>
          </a:p>
          <a:p>
            <a:pPr>
              <a:defRPr b="0" sz="1200">
                <a:solidFill>
                  <a:srgbClr val="262626"/>
                </a:solidFill>
                <a:latin typeface="Calibri"/>
              </a:defRPr>
            </a:pPr>
            <a:r>
              <a:t>  4. Student Support System: Assists decisions | Limitation: Less personalized to individual criteria</a:t>
            </a:r>
          </a:p>
          <a:p>
            <a:pPr>
              <a:defRPr b="0" sz="1200">
                <a:solidFill>
                  <a:srgbClr val="262626"/>
                </a:solidFill>
                <a:latin typeface="Calibri"/>
              </a:defRPr>
            </a:pPr>
            <a:r>
              <a:t>  5. ML Eligibility Model: Good initial accuracy | Limitation: Restricted feature scope</a:t>
            </a:r>
          </a:p>
          <a:p>
            <a:pPr>
              <a:defRPr b="0" sz="400">
                <a:solidFill>
                  <a:srgbClr val="262626"/>
                </a:solidFill>
                <a:latin typeface="Calibri"/>
              </a:defRPr>
            </a:pPr>
          </a:p>
          <a:p>
            <a:pPr>
              <a:defRPr b="1" sz="1500">
                <a:solidFill>
                  <a:srgbClr val="00B0F0"/>
                </a:solidFill>
                <a:latin typeface="Calibri"/>
              </a:defRPr>
            </a:pPr>
            <a:r>
              <a:t>Research Gap Addressed:</a:t>
            </a:r>
          </a:p>
          <a:p>
            <a:pPr>
              <a:defRPr b="0" sz="1200">
                <a:solidFill>
                  <a:srgbClr val="262626"/>
                </a:solidFill>
                <a:latin typeface="Calibri"/>
              </a:defRPr>
            </a:pPr>
            <a:r>
              <a:t>  • Multidimensional Feature Integration: Combines academic, financial, and demographic attributes in a unified pipeline rather than isolated evaluations.</a:t>
            </a:r>
          </a:p>
          <a:p>
            <a:pPr>
              <a:defRPr b="0" sz="1200">
                <a:solidFill>
                  <a:srgbClr val="262626"/>
                </a:solidFill>
                <a:latin typeface="Calibri"/>
              </a:defRPr>
            </a:pPr>
            <a:r>
              <a:t>  • Multi-Algorithm Benchmarking: Systematically compares four distinct classification paradigms (linear, tree, ensemble, probabilistic).</a:t>
            </a:r>
          </a:p>
          <a:p>
            <a:pPr>
              <a:defRPr b="0" sz="1200">
                <a:solidFill>
                  <a:srgbClr val="262626"/>
                </a:solidFill>
                <a:latin typeface="Calibri"/>
              </a:defRPr>
            </a:pPr>
            <a:r>
              <a:t>  • Zero-Leakage Pipeline: Implements strict ColumnTransformer preprocessing fitted exclusively on training data.</a:t>
            </a:r>
          </a:p>
          <a:p>
            <a:pPr>
              <a:defRPr b="0" sz="400">
                <a:solidFill>
                  <a:srgbClr val="262626"/>
                </a:solidFill>
                <a:latin typeface="Calibri"/>
              </a:defRPr>
            </a:pPr>
          </a:p>
          <a:p>
            <a:pPr>
              <a:defRPr b="1" sz="1300">
                <a:solidFill>
                  <a:srgbClr val="646464"/>
                </a:solidFill>
                <a:latin typeface="Calibri"/>
              </a:defRPr>
            </a:pPr>
            <a:r>
              <a:t>Reference Context Note:</a:t>
            </a:r>
          </a:p>
          <a:p>
            <a:pPr>
              <a:defRPr b="0" sz="1150">
                <a:solidFill>
                  <a:srgbClr val="646464"/>
                </a:solidFill>
                <a:latin typeface="Calibri"/>
              </a:defRPr>
            </a:pPr>
            <a:r>
              <a:t>  • Government scholarship guidelines and AISHE statistics provide conceptual domain context; the dataset is a synthetic reference benchmark created for academic experimentation.</a:t>
            </a:r>
          </a:p>
        </p:txBody>
      </p:sp>
    </p:spTree>
    <p:extLst>
      <p:ext uri="{BB962C8B-B14F-4D97-AF65-F5344CB8AC3E}">
        <p14:creationId xmlns:p14="http://schemas.microsoft.com/office/powerpoint/2010/main" val="2938273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736729-155D-0751-EF5C-B337A7EB59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2305BF-F651-1AA4-1AA9-EF80F8F80687}"/>
              </a:ext>
            </a:extLst>
          </p:cNvPr>
          <p:cNvSpPr>
            <a:spLocks noGrp="1"/>
          </p:cNvSpPr>
          <p:nvPr>
            <p:ph type="title"/>
          </p:nvPr>
        </p:nvSpPr>
        <p:spPr>
          <a:xfrm>
            <a:off x="346587" y="178313"/>
            <a:ext cx="10515600" cy="903236"/>
          </a:xfrm>
        </p:spPr>
        <p:txBody>
          <a:bodyPr>
            <a:normAutofit/>
          </a:bodyPr>
          <a:lstStyle/>
          <a:p>
            <a:pPr>
              <a:defRPr sz="3400" b="1">
                <a:solidFill>
                  <a:srgbClr val="00B0F0"/>
                </a:solidFill>
                <a:latin typeface="Cambria"/>
              </a:defRPr>
            </a:pPr>
            <a:r>
              <a:t>Objectives of the Project</a:t>
            </a:r>
          </a:p>
        </p:txBody>
      </p:sp>
      <p:sp>
        <p:nvSpPr>
          <p:cNvPr id="4" name="Content Placeholder 2">
            <a:extLst>
              <a:ext uri="{FF2B5EF4-FFF2-40B4-BE49-F238E27FC236}">
                <a16:creationId xmlns:a16="http://schemas.microsoft.com/office/drawing/2014/main" id="{8750ED82-A610-F054-CB6A-4D6353DA7240}"/>
              </a:ext>
            </a:extLst>
          </p:cNvPr>
          <p:cNvSpPr>
            <a:spLocks noGrp="1"/>
          </p:cNvSpPr>
          <p:nvPr>
            <p:ph idx="1"/>
          </p:nvPr>
        </p:nvSpPr>
        <p:spPr>
          <a:xfrm>
            <a:off x="346587" y="553915"/>
            <a:ext cx="11471787" cy="5623049"/>
          </a:xfrm>
        </p:spPr>
        <p:txBody>
          <a:bodyPr>
            <a:normAutofit/>
          </a:bodyPr>
          <a:lstStyle/>
          <a:p>
            <a:pPr marL="0" indent="0">
              <a:spcAft>
                <a:spcPts val="1400"/>
              </a:spcAft>
              <a:buNone/>
              <a:defRPr b="1" sz="1500">
                <a:solidFill>
                  <a:srgbClr val="262626"/>
                </a:solidFill>
                <a:latin typeface="Calibri"/>
              </a:defRPr>
            </a:pPr>
            <a:r>
              <a:t>1. Develop a machine learning classification model for scholarship eligibility prediction.</a:t>
            </a:r>
            <a:endParaRPr lang="en-US" dirty="0"/>
          </a:p>
          <a:p>
            <a:pPr>
              <a:spcAft>
                <a:spcPts val="1400"/>
              </a:spcAft>
              <a:defRPr b="0" sz="1500">
                <a:solidFill>
                  <a:srgbClr val="262626"/>
                </a:solidFill>
                <a:latin typeface="Calibri"/>
              </a:defRPr>
            </a:pPr>
            <a:r>
              <a:t>2. Analyze academic, financial, and demographic student attributes affecting eligibility.</a:t>
            </a:r>
          </a:p>
          <a:p>
            <a:pPr>
              <a:spcAft>
                <a:spcPts val="1400"/>
              </a:spcAft>
              <a:defRPr b="0" sz="1500">
                <a:solidFill>
                  <a:srgbClr val="262626"/>
                </a:solidFill>
                <a:latin typeface="Calibri"/>
              </a:defRPr>
            </a:pPr>
            <a:r>
              <a:t>3. Perform structured data preprocessing and exploratory data analysis (EDA).</a:t>
            </a:r>
          </a:p>
          <a:p>
            <a:pPr>
              <a:spcAft>
                <a:spcPts val="1400"/>
              </a:spcAft>
              <a:defRPr b="1" sz="1500">
                <a:solidFill>
                  <a:srgbClr val="262626"/>
                </a:solidFill>
                <a:latin typeface="Calibri"/>
              </a:defRPr>
            </a:pPr>
            <a:r>
              <a:t>4. Train and benchmark multiple classification algorithms (Logistic Regression, Decision Tree, Random Forest, Naïve Bayes).</a:t>
            </a:r>
          </a:p>
          <a:p>
            <a:pPr>
              <a:spcAft>
                <a:spcPts val="1400"/>
              </a:spcAft>
              <a:defRPr b="0" sz="1500">
                <a:solidFill>
                  <a:srgbClr val="262626"/>
                </a:solidFill>
                <a:latin typeface="Calibri"/>
              </a:defRPr>
            </a:pPr>
            <a:r>
              <a:t>5. Evaluate model performance using standard evaluation metrics (Accuracy, Precision, Recall, F1-Score) to predict students labeled as eligible in the dataset.</a:t>
            </a:r>
          </a:p>
          <a:p>
            <a:pPr>
              <a:spcAft>
                <a:spcPts val="1400"/>
              </a:spcAft>
              <a:defRPr b="0" sz="1500">
                <a:solidFill>
                  <a:srgbClr val="262626"/>
                </a:solidFill>
                <a:latin typeface="Calibri"/>
              </a:defRPr>
            </a:pPr>
            <a:r>
              <a:t>6. Provide a decision-support prediction interface with probability estimation.</a:t>
            </a:r>
          </a:p>
        </p:txBody>
      </p:sp>
    </p:spTree>
    <p:extLst>
      <p:ext uri="{BB962C8B-B14F-4D97-AF65-F5344CB8AC3E}">
        <p14:creationId xmlns:p14="http://schemas.microsoft.com/office/powerpoint/2010/main" val="36547160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5A2EFA-4F75-31F7-BF01-0023F04F62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0E97D1-470F-866E-82A7-B7BF7F6BD1D5}"/>
              </a:ext>
            </a:extLst>
          </p:cNvPr>
          <p:cNvSpPr>
            <a:spLocks noGrp="1"/>
          </p:cNvSpPr>
          <p:nvPr>
            <p:ph type="title"/>
          </p:nvPr>
        </p:nvSpPr>
        <p:spPr/>
        <p:txBody>
          <a:bodyPr>
            <a:normAutofit/>
          </a:bodyPr>
          <a:lstStyle/>
          <a:p>
            <a:pPr algn="ctr"/>
            <a:r>
              <a:rPr lang="en-IN" sz="4000" b="1" dirty="0">
                <a:solidFill>
                  <a:srgbClr val="00B0F0"/>
                </a:solidFill>
                <a:latin typeface="Cambria" panose="02040503050406030204" pitchFamily="18" charset="0"/>
                <a:ea typeface="Cambria" panose="02040503050406030204" pitchFamily="18" charset="0"/>
              </a:rPr>
              <a:t>Project Planning and Time Schedule</a:t>
            </a:r>
          </a:p>
        </p:txBody>
      </p:sp>
      <p:sp>
        <p:nvSpPr>
          <p:cNvPr id="4" name="Content Placeholder 2">
            <a:extLst>
              <a:ext uri="{FF2B5EF4-FFF2-40B4-BE49-F238E27FC236}">
                <a16:creationId xmlns:a16="http://schemas.microsoft.com/office/drawing/2014/main" id="{3A502D33-AFBF-5080-0FA5-5A1B9F123BF6}"/>
              </a:ext>
            </a:extLst>
          </p:cNvPr>
          <p:cNvSpPr>
            <a:spLocks noGrp="1"/>
          </p:cNvSpPr>
          <p:nvPr>
            <p:ph sz="half" idx="1"/>
          </p:nvPr>
        </p:nvSpPr>
        <p:spPr>
          <a:xfrm>
            <a:off x="0" y="1825625"/>
            <a:ext cx="6520962" cy="4351338"/>
          </a:xfrm>
        </p:spPr>
        <p:txBody>
          <a:bodyPr>
            <a:normAutofit fontScale="55000" lnSpcReduction="20000"/>
          </a:bodyPr>
          <a:lstStyle/>
          <a:p>
            <a:pPr lvl="1"/>
            <a:r>
              <a:rPr lang="en-IN" sz="3800" dirty="0"/>
              <a:t>PROJECT PLANNING</a:t>
            </a:r>
          </a:p>
          <a:p>
            <a:pPr lvl="1"/>
            <a:endParaRPr lang="en-IN" sz="3800" dirty="0"/>
          </a:p>
          <a:p>
            <a:pPr lvl="1"/>
            <a:r>
              <a:rPr lang="en-IN" sz="3800" dirty="0"/>
              <a:t>TASK ALLOCATION              MILESTONES</a:t>
            </a:r>
          </a:p>
          <a:p>
            <a:pPr lvl="1"/>
            <a:endParaRPr lang="en-IN" sz="3800" dirty="0"/>
          </a:p>
          <a:p>
            <a:pPr lvl="1"/>
            <a:r>
              <a:rPr lang="en-IN" sz="3800" dirty="0" err="1"/>
              <a:t>Kirutick</a:t>
            </a:r>
            <a:r>
              <a:rPr lang="en-IN" sz="3800" dirty="0"/>
              <a:t> Siddhesh               M1: Problem Definition</a:t>
            </a:r>
          </a:p>
          <a:p>
            <a:pPr lvl="1"/>
            <a:r>
              <a:rPr lang="en-IN" sz="3800" dirty="0"/>
              <a:t> Literature Survey               M2: Literature Survey</a:t>
            </a:r>
          </a:p>
          <a:p>
            <a:pPr lvl="1"/>
            <a:r>
              <a:rPr lang="en-IN" sz="3800" dirty="0"/>
              <a:t> Data Collection                 M3: Dataset Prepared</a:t>
            </a:r>
          </a:p>
          <a:p>
            <a:pPr lvl="1"/>
            <a:r>
              <a:rPr lang="en-IN" sz="3800" dirty="0"/>
              <a:t> Documentation                 M4: Model </a:t>
            </a:r>
            <a:r>
              <a:rPr lang="en-IN" sz="3800" dirty="0" err="1"/>
              <a:t>Developmen</a:t>
            </a:r>
            <a:endParaRPr lang="en-IN" sz="3800" dirty="0"/>
          </a:p>
          <a:p>
            <a:pPr lvl="1"/>
            <a:r>
              <a:rPr lang="en-IN" sz="3800" dirty="0"/>
              <a:t>Krishna H                               M5: Testing &amp; Evaluation</a:t>
            </a:r>
          </a:p>
          <a:p>
            <a:pPr lvl="1"/>
            <a:r>
              <a:rPr lang="en-IN" sz="3800" dirty="0"/>
              <a:t>Model Development        M6: Final Submission</a:t>
            </a:r>
          </a:p>
          <a:p>
            <a:pPr lvl="1"/>
            <a:r>
              <a:rPr lang="en-IN" sz="3800" dirty="0"/>
              <a:t> Testing</a:t>
            </a:r>
          </a:p>
          <a:p>
            <a:pPr lvl="1"/>
            <a:r>
              <a:rPr lang="en-IN" sz="3800" dirty="0"/>
              <a:t>Presentation</a:t>
            </a:r>
            <a:endParaRPr lang="en-IN" dirty="0"/>
          </a:p>
        </p:txBody>
      </p:sp>
      <p:sp>
        <p:nvSpPr>
          <p:cNvPr id="3" name="Content Placeholder 2"/>
          <p:cNvSpPr>
            <a:spLocks noGrp="1"/>
          </p:cNvSpPr>
          <p:nvPr>
            <p:ph sz="half" idx="2"/>
          </p:nvPr>
        </p:nvSpPr>
        <p:spPr>
          <a:xfrm>
            <a:off x="7095392" y="1825625"/>
            <a:ext cx="5096608" cy="4351338"/>
          </a:xfrm>
        </p:spPr>
        <p:txBody>
          <a:bodyPr>
            <a:normAutofit fontScale="55000" lnSpcReduction="20000"/>
          </a:bodyPr>
          <a:lstStyle/>
          <a:p>
            <a:endParaRPr lang="en-IN" sz="4200" dirty="0"/>
          </a:p>
          <a:p>
            <a:r>
              <a:rPr lang="en-IN" sz="4200" dirty="0"/>
              <a:t>Timeline:</a:t>
            </a:r>
          </a:p>
          <a:p>
            <a:endParaRPr lang="en-IN" dirty="0"/>
          </a:p>
          <a:p>
            <a:endParaRPr lang="en-IN" sz="2900" dirty="0"/>
          </a:p>
          <a:p>
            <a:r>
              <a:rPr lang="en-IN" sz="2900" dirty="0"/>
              <a:t>W1-W2 → Literature Survey</a:t>
            </a:r>
          </a:p>
          <a:p>
            <a:r>
              <a:rPr lang="en-IN" sz="2900" dirty="0"/>
              <a:t>W3-W4 → Data Collection &amp; Pre-processing</a:t>
            </a:r>
          </a:p>
          <a:p>
            <a:r>
              <a:rPr lang="en-IN" sz="2900" dirty="0"/>
              <a:t>W5-W6 → Model Development</a:t>
            </a:r>
          </a:p>
          <a:p>
            <a:r>
              <a:rPr lang="en-IN" sz="2900" dirty="0"/>
              <a:t>W7 → Testing &amp; Evaluation</a:t>
            </a:r>
          </a:p>
          <a:p>
            <a:r>
              <a:rPr lang="en-IN" sz="2900" dirty="0"/>
              <a:t>W8 → Documentation &amp; Presentation</a:t>
            </a:r>
          </a:p>
          <a:p>
            <a:endParaRPr lang="en-IN" sz="2900" dirty="0"/>
          </a:p>
        </p:txBody>
      </p:sp>
    </p:spTree>
    <p:extLst>
      <p:ext uri="{BB962C8B-B14F-4D97-AF65-F5344CB8AC3E}">
        <p14:creationId xmlns:p14="http://schemas.microsoft.com/office/powerpoint/2010/main" val="32759891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736729-155D-0751-EF5C-B337A7EB59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2305BF-F651-1AA4-1AA9-EF80F8F80687}"/>
              </a:ext>
            </a:extLst>
          </p:cNvPr>
          <p:cNvSpPr>
            <a:spLocks noGrp="1"/>
          </p:cNvSpPr>
          <p:nvPr>
            <p:ph type="title"/>
          </p:nvPr>
        </p:nvSpPr>
        <p:spPr>
          <a:xfrm>
            <a:off x="346587" y="178313"/>
            <a:ext cx="11471787" cy="700000"/>
          </a:xfrm>
        </p:spPr>
        <p:txBody>
          <a:bodyPr>
            <a:normAutofit/>
          </a:bodyPr>
          <a:lstStyle/>
          <a:p>
            <a:pPr>
              <a:defRPr sz="3200" b="1">
                <a:solidFill>
                  <a:srgbClr val="00B0F0"/>
                </a:solidFill>
                <a:latin typeface="Cambria"/>
              </a:defRPr>
            </a:pPr>
            <a:r>
              <a:t>Exploratory Data Analysis (EDA)</a:t>
            </a:r>
          </a:p>
        </p:txBody>
      </p:sp>
      <p:sp>
        <p:nvSpPr>
          <p:cNvPr id="4" name="Content Placeholder 2">
            <a:extLst>
              <a:ext uri="{FF2B5EF4-FFF2-40B4-BE49-F238E27FC236}">
                <a16:creationId xmlns:a16="http://schemas.microsoft.com/office/drawing/2014/main" id="{8750ED82-A610-F054-CB6A-4D6353DA7240}"/>
              </a:ext>
            </a:extLst>
          </p:cNvPr>
          <p:cNvSpPr>
            <a:spLocks noGrp="1"/>
          </p:cNvSpPr>
          <p:nvPr>
            <p:ph idx="1"/>
          </p:nvPr>
        </p:nvSpPr>
        <p:spPr>
          <a:xfrm>
            <a:off x="346587" y="920000"/>
            <a:ext cx="11471787" cy="1650000"/>
          </a:xfrm>
        </p:spPr>
        <p:txBody>
          <a:bodyPr>
            <a:normAutofit/>
          </a:bodyPr>
          <a:lstStyle/>
          <a:p>
            <a:pPr>
              <a:spcAft>
                <a:spcPts val="400"/>
              </a:spcAft>
            </a:pPr>
            <a:r>
              <a:rPr b="1" sz="1250">
                <a:solidFill>
                  <a:srgbClr val="262626"/>
                </a:solidFill>
                <a:latin typeface="Calibri"/>
              </a:rPr>
              <a:t>Dataset: </a:t>
            </a:r>
            <a:r>
              <a:rPr b="0" sz="1200">
                <a:solidFill>
                  <a:srgbClr val="262626"/>
                </a:solidFill>
                <a:latin typeface="Calibri"/>
              </a:rPr>
              <a:t>1,000 synthetic student records (Community, FamilyIncome, 12thMarks, FirstGraduate, District, CollegeType, Course).</a:t>
            </a:r>
          </a:p>
          <a:p>
            <a:pPr>
              <a:spcAft>
                <a:spcPts val="400"/>
              </a:spcAft>
            </a:pPr>
            <a:r>
              <a:rPr b="1" sz="1250">
                <a:solidFill>
                  <a:srgbClr val="262626"/>
                </a:solidFill>
                <a:latin typeface="Calibri"/>
              </a:rPr>
              <a:t>Target Distribution: </a:t>
            </a:r>
            <a:r>
              <a:rPr b="0" sz="1200">
                <a:solidFill>
                  <a:srgbClr val="262626"/>
                </a:solidFill>
                <a:latin typeface="Calibri"/>
              </a:rPr>
              <a:t>63.8% Eligible (638) vs 36.2% Not Eligible (362) — moderately imbalanced classification target.</a:t>
            </a:r>
          </a:p>
          <a:p>
            <a:pPr>
              <a:spcAft>
                <a:spcPts val="400"/>
              </a:spcAft>
            </a:pPr>
            <a:r>
              <a:rPr b="1" sz="1250">
                <a:solidFill>
                  <a:srgbClr val="00B0F0"/>
                </a:solidFill>
                <a:latin typeface="Calibri"/>
              </a:rPr>
              <a:t>FamilyIncome Correlation: </a:t>
            </a:r>
            <a:r>
              <a:rPr b="0" sz="1200">
                <a:solidFill>
                  <a:srgbClr val="262626"/>
                </a:solidFill>
                <a:latin typeface="Calibri"/>
              </a:rPr>
              <a:t>r ≈ -0.57 (Calculated r = -0.5739) — shows the strongest negative linear association with eligibility.</a:t>
            </a:r>
          </a:p>
          <a:p>
            <a:pPr>
              <a:spcAft>
                <a:spcPts val="400"/>
              </a:spcAft>
            </a:pPr>
            <a:r>
              <a:rPr b="1" sz="1250">
                <a:solidFill>
                  <a:srgbClr val="00B0F0"/>
                </a:solidFill>
                <a:latin typeface="Calibri"/>
              </a:rPr>
              <a:t>12thMarks Correlation: </a:t>
            </a:r>
            <a:r>
              <a:rPr b="0" sz="1200">
                <a:solidFill>
                  <a:srgbClr val="262626"/>
                </a:solidFill>
                <a:latin typeface="Calibri"/>
              </a:rPr>
              <a:t>r ≈ +0.22 (Calculated r = +0.2226) — shows a moderate positive linear association with eligibility.</a:t>
            </a:r>
          </a:p>
          <a:p>
            <a:pPr>
              <a:spcAft>
                <a:spcPts val="400"/>
              </a:spcAft>
            </a:pPr>
            <a:r>
              <a:rPr b="1" sz="1250">
                <a:solidFill>
                  <a:srgbClr val="262626"/>
                </a:solidFill>
                <a:latin typeface="Calibri"/>
              </a:rPr>
              <a:t>Causality Note: </a:t>
            </a:r>
            <a:r>
              <a:rPr b="0" sz="1200">
                <a:solidFill>
                  <a:srgbClr val="646464"/>
                </a:solidFill>
                <a:latin typeface="Calibri"/>
              </a:rPr>
              <a:t>Correlation indicates linear statistical association within the dataset, not causation (income/marks do not independently cause eligibility).</a:t>
            </a:r>
          </a:p>
        </p:txBody>
      </p:sp>
      <p:pic>
        <p:nvPicPr>
          <p:cNvPr id="5" name="Picture 4" descr="community_distribution.png"/>
          <p:cNvPicPr>
            <a:picLocks noChangeAspect="1"/>
          </p:cNvPicPr>
          <p:nvPr/>
        </p:nvPicPr>
        <p:blipFill>
          <a:blip r:embed="rId4"/>
          <a:stretch>
            <a:fillRect/>
          </a:stretch>
        </p:blipFill>
        <p:spPr>
          <a:xfrm>
            <a:off x="548640" y="3154680"/>
            <a:ext cx="5303520" cy="3291840"/>
          </a:xfrm>
          <a:prstGeom prst="rect">
            <a:avLst/>
          </a:prstGeom>
        </p:spPr>
      </p:pic>
      <p:pic>
        <p:nvPicPr>
          <p:cNvPr id="6" name="Picture 5" descr="family_income_distribution.png"/>
          <p:cNvPicPr>
            <a:picLocks noChangeAspect="1"/>
          </p:cNvPicPr>
          <p:nvPr/>
        </p:nvPicPr>
        <p:blipFill>
          <a:blip r:embed="rId5"/>
          <a:stretch>
            <a:fillRect/>
          </a:stretch>
        </p:blipFill>
        <p:spPr>
          <a:xfrm>
            <a:off x="6217920" y="3154680"/>
            <a:ext cx="5394960" cy="3291840"/>
          </a:xfrm>
          <a:prstGeom prst="rect">
            <a:avLst/>
          </a:prstGeom>
        </p:spPr>
      </p:pic>
    </p:spTree>
    <p:extLst>
      <p:ext uri="{BB962C8B-B14F-4D97-AF65-F5344CB8AC3E}">
        <p14:creationId xmlns:p14="http://schemas.microsoft.com/office/powerpoint/2010/main" val="36547160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736729-155D-0751-EF5C-B337A7EB59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2305BF-F651-1AA4-1AA9-EF80F8F80687}"/>
              </a:ext>
            </a:extLst>
          </p:cNvPr>
          <p:cNvSpPr>
            <a:spLocks noGrp="1"/>
          </p:cNvSpPr>
          <p:nvPr>
            <p:ph type="title"/>
          </p:nvPr>
        </p:nvSpPr>
        <p:spPr>
          <a:xfrm>
            <a:off x="346587" y="178313"/>
            <a:ext cx="11471787" cy="700000"/>
          </a:xfrm>
        </p:spPr>
        <p:txBody>
          <a:bodyPr>
            <a:normAutofit/>
          </a:bodyPr>
          <a:lstStyle/>
          <a:p>
            <a:pPr>
              <a:defRPr sz="3200" b="1">
                <a:solidFill>
                  <a:srgbClr val="00B0F0"/>
                </a:solidFill>
                <a:latin typeface="Cambria"/>
              </a:defRPr>
            </a:pPr>
            <a:r>
              <a:t>Model Comparison &amp; Results</a:t>
            </a:r>
          </a:p>
        </p:txBody>
      </p:sp>
      <p:sp>
        <p:nvSpPr>
          <p:cNvPr id="4" name="Content Placeholder 2">
            <a:extLst>
              <a:ext uri="{FF2B5EF4-FFF2-40B4-BE49-F238E27FC236}">
                <a16:creationId xmlns:a16="http://schemas.microsoft.com/office/drawing/2014/main" id="{8750ED82-A610-F054-CB6A-4D6353DA7240}"/>
              </a:ext>
            </a:extLst>
          </p:cNvPr>
          <p:cNvSpPr>
            <a:spLocks noGrp="1"/>
          </p:cNvSpPr>
          <p:nvPr>
            <p:ph idx="1"/>
          </p:nvPr>
        </p:nvSpPr>
        <p:spPr>
          <a:xfrm>
            <a:off x="346587" y="920000"/>
            <a:ext cx="11471787" cy="1650000"/>
          </a:xfrm>
        </p:spPr>
        <p:txBody>
          <a:bodyPr>
            <a:normAutofit/>
          </a:bodyPr>
          <a:lstStyle/>
          <a:p>
            <a:pPr>
              <a:spcAft>
                <a:spcPts val="300"/>
              </a:spcAft>
              <a:defRPr b="0" sz="1250">
                <a:solidFill>
                  <a:srgbClr val="262626"/>
                </a:solidFill>
                <a:latin typeface="Calibri"/>
              </a:defRPr>
            </a:pPr>
            <a:r>
              <a:t>• Four classification algorithms were trained on 800 samples and evaluated on 200 held-out test samples (stratified 80/20 split).</a:t>
            </a:r>
          </a:p>
          <a:p>
            <a:pPr>
              <a:spcAft>
                <a:spcPts val="300"/>
              </a:spcAft>
              <a:defRPr b="1" sz="1250">
                <a:solidFill>
                  <a:srgbClr val="00B0F0"/>
                </a:solidFill>
                <a:latin typeface="Calibri"/>
              </a:defRPr>
            </a:pPr>
            <a:r>
              <a:t>• Random Forest achieved 93.0% accuracy and 0.944 F1-score on the held-out test set, performing best in the experiment.</a:t>
            </a:r>
          </a:p>
          <a:p>
            <a:pPr>
              <a:spcAft>
                <a:spcPts val="300"/>
              </a:spcAft>
              <a:defRPr b="0" sz="1250">
                <a:solidFill>
                  <a:srgbClr val="262626"/>
                </a:solidFill>
                <a:latin typeface="Calibri"/>
              </a:defRPr>
            </a:pPr>
            <a:r>
              <a:t>• Random Forest Feature Importance: FamilyIncome (46.94%) and 12thMarks (21.28%) are the top predictors in the model.</a:t>
            </a:r>
          </a:p>
        </p:txBody>
      </p:sp>
      <p:graphicFrame>
        <p:nvGraphicFramePr>
          <p:cNvPr id="5" name="Table 4"/>
          <p:cNvGraphicFramePr>
            <a:graphicFrameLocks noGrp="1"/>
          </p:cNvGraphicFramePr>
          <p:nvPr/>
        </p:nvGraphicFramePr>
        <p:xfrm>
          <a:off x="457200" y="2468880"/>
          <a:ext cx="5852160" cy="3931920"/>
        </p:xfrm>
        <a:graphic>
          <a:graphicData uri="http://schemas.openxmlformats.org/drawingml/2006/table">
            <a:tbl>
              <a:tblPr firstRow="1" bandRow="1">
                <a:tableStyleId>{5C22544A-7EE6-4342-B048-85BDC9FD1C3A}</a:tableStyleId>
              </a:tblPr>
              <a:tblGrid>
                <a:gridCol w="2194560"/>
                <a:gridCol w="914400"/>
                <a:gridCol w="914400"/>
                <a:gridCol w="914400"/>
                <a:gridCol w="914400"/>
              </a:tblGrid>
              <a:tr h="786384">
                <a:tc>
                  <a:txBody>
                    <a:bodyPr/>
                    <a:lstStyle/>
                    <a:p>
                      <a:pPr algn="l">
                        <a:defRPr b="1" sz="1200">
                          <a:solidFill>
                            <a:srgbClr val="FFFFFF"/>
                          </a:solidFill>
                          <a:latin typeface="Calibri"/>
                        </a:defRPr>
                      </a:pPr>
                      <a:r>
                        <a:t>Model</a:t>
                      </a:r>
                    </a:p>
                  </a:txBody>
                  <a:tcPr>
                    <a:solidFill>
                      <a:srgbClr val="0F4C81"/>
                    </a:solidFill>
                  </a:tcPr>
                </a:tc>
                <a:tc>
                  <a:txBody>
                    <a:bodyPr/>
                    <a:lstStyle/>
                    <a:p>
                      <a:pPr algn="ctr">
                        <a:defRPr b="1" sz="1200">
                          <a:solidFill>
                            <a:srgbClr val="FFFFFF"/>
                          </a:solidFill>
                          <a:latin typeface="Calibri"/>
                        </a:defRPr>
                      </a:pPr>
                      <a:r>
                        <a:t>Accuracy</a:t>
                      </a:r>
                    </a:p>
                  </a:txBody>
                  <a:tcPr>
                    <a:solidFill>
                      <a:srgbClr val="0F4C81"/>
                    </a:solidFill>
                  </a:tcPr>
                </a:tc>
                <a:tc>
                  <a:txBody>
                    <a:bodyPr/>
                    <a:lstStyle/>
                    <a:p>
                      <a:pPr algn="ctr">
                        <a:defRPr b="1" sz="1200">
                          <a:solidFill>
                            <a:srgbClr val="FFFFFF"/>
                          </a:solidFill>
                          <a:latin typeface="Calibri"/>
                        </a:defRPr>
                      </a:pPr>
                      <a:r>
                        <a:t>Precision</a:t>
                      </a:r>
                    </a:p>
                  </a:txBody>
                  <a:tcPr>
                    <a:solidFill>
                      <a:srgbClr val="0F4C81"/>
                    </a:solidFill>
                  </a:tcPr>
                </a:tc>
                <a:tc>
                  <a:txBody>
                    <a:bodyPr/>
                    <a:lstStyle/>
                    <a:p>
                      <a:pPr algn="ctr">
                        <a:defRPr b="1" sz="1200">
                          <a:solidFill>
                            <a:srgbClr val="FFFFFF"/>
                          </a:solidFill>
                          <a:latin typeface="Calibri"/>
                        </a:defRPr>
                      </a:pPr>
                      <a:r>
                        <a:t>Recall</a:t>
                      </a:r>
                    </a:p>
                  </a:txBody>
                  <a:tcPr>
                    <a:solidFill>
                      <a:srgbClr val="0F4C81"/>
                    </a:solidFill>
                  </a:tcPr>
                </a:tc>
                <a:tc>
                  <a:txBody>
                    <a:bodyPr/>
                    <a:lstStyle/>
                    <a:p>
                      <a:pPr algn="ctr">
                        <a:defRPr b="1" sz="1200">
                          <a:solidFill>
                            <a:srgbClr val="FFFFFF"/>
                          </a:solidFill>
                          <a:latin typeface="Calibri"/>
                        </a:defRPr>
                      </a:pPr>
                      <a:r>
                        <a:t>F1-Score</a:t>
                      </a:r>
                    </a:p>
                  </a:txBody>
                  <a:tcPr>
                    <a:solidFill>
                      <a:srgbClr val="0F4C81"/>
                    </a:solidFill>
                  </a:tcPr>
                </a:tc>
              </a:tr>
              <a:tr h="786384">
                <a:tc>
                  <a:txBody>
                    <a:bodyPr/>
                    <a:lstStyle/>
                    <a:p>
                      <a:pPr algn="l">
                        <a:defRPr b="0" sz="1150">
                          <a:solidFill>
                            <a:srgbClr val="262626"/>
                          </a:solidFill>
                          <a:latin typeface="Calibri"/>
                        </a:defRPr>
                      </a:pPr>
                      <a:r>
                        <a:t>Logistic Regression</a:t>
                      </a:r>
                    </a:p>
                  </a:txBody>
                  <a:tcPr>
                    <a:solidFill>
                      <a:srgbClr val="FFFFFF"/>
                    </a:solidFill>
                  </a:tcPr>
                </a:tc>
                <a:tc>
                  <a:txBody>
                    <a:bodyPr/>
                    <a:lstStyle/>
                    <a:p>
                      <a:pPr algn="ctr">
                        <a:defRPr b="0" sz="1150">
                          <a:solidFill>
                            <a:srgbClr val="262626"/>
                          </a:solidFill>
                          <a:latin typeface="Calibri"/>
                        </a:defRPr>
                      </a:pPr>
                      <a:r>
                        <a:t>86.0%</a:t>
                      </a:r>
                    </a:p>
                  </a:txBody>
                  <a:tcPr>
                    <a:solidFill>
                      <a:srgbClr val="FFFFFF"/>
                    </a:solidFill>
                  </a:tcPr>
                </a:tc>
                <a:tc>
                  <a:txBody>
                    <a:bodyPr/>
                    <a:lstStyle/>
                    <a:p>
                      <a:pPr algn="ctr">
                        <a:defRPr b="0" sz="1150">
                          <a:solidFill>
                            <a:srgbClr val="262626"/>
                          </a:solidFill>
                          <a:latin typeface="Calibri"/>
                        </a:defRPr>
                      </a:pPr>
                      <a:r>
                        <a:t>0.8906</a:t>
                      </a:r>
                    </a:p>
                  </a:txBody>
                  <a:tcPr>
                    <a:solidFill>
                      <a:srgbClr val="FFFFFF"/>
                    </a:solidFill>
                  </a:tcPr>
                </a:tc>
                <a:tc>
                  <a:txBody>
                    <a:bodyPr/>
                    <a:lstStyle/>
                    <a:p>
                      <a:pPr algn="ctr">
                        <a:defRPr b="0" sz="1150">
                          <a:solidFill>
                            <a:srgbClr val="262626"/>
                          </a:solidFill>
                          <a:latin typeface="Calibri"/>
                        </a:defRPr>
                      </a:pPr>
                      <a:r>
                        <a:t>0.8906</a:t>
                      </a:r>
                    </a:p>
                  </a:txBody>
                  <a:tcPr>
                    <a:solidFill>
                      <a:srgbClr val="FFFFFF"/>
                    </a:solidFill>
                  </a:tcPr>
                </a:tc>
                <a:tc>
                  <a:txBody>
                    <a:bodyPr/>
                    <a:lstStyle/>
                    <a:p>
                      <a:pPr algn="ctr">
                        <a:defRPr b="0" sz="1150">
                          <a:solidFill>
                            <a:srgbClr val="262626"/>
                          </a:solidFill>
                          <a:latin typeface="Calibri"/>
                        </a:defRPr>
                      </a:pPr>
                      <a:r>
                        <a:t>0.8906</a:t>
                      </a:r>
                    </a:p>
                  </a:txBody>
                  <a:tcPr>
                    <a:solidFill>
                      <a:srgbClr val="FFFFFF"/>
                    </a:solidFill>
                  </a:tcPr>
                </a:tc>
              </a:tr>
              <a:tr h="786384">
                <a:tc>
                  <a:txBody>
                    <a:bodyPr/>
                    <a:lstStyle/>
                    <a:p>
                      <a:pPr algn="l">
                        <a:defRPr b="0" sz="1150">
                          <a:solidFill>
                            <a:srgbClr val="262626"/>
                          </a:solidFill>
                          <a:latin typeface="Calibri"/>
                        </a:defRPr>
                      </a:pPr>
                      <a:r>
                        <a:t>Decision Tree</a:t>
                      </a:r>
                    </a:p>
                  </a:txBody>
                  <a:tcPr>
                    <a:solidFill>
                      <a:srgbClr val="F5F8FC"/>
                    </a:solidFill>
                  </a:tcPr>
                </a:tc>
                <a:tc>
                  <a:txBody>
                    <a:bodyPr/>
                    <a:lstStyle/>
                    <a:p>
                      <a:pPr algn="ctr">
                        <a:defRPr b="0" sz="1150">
                          <a:solidFill>
                            <a:srgbClr val="262626"/>
                          </a:solidFill>
                          <a:latin typeface="Calibri"/>
                        </a:defRPr>
                      </a:pPr>
                      <a:r>
                        <a:t>90.5%</a:t>
                      </a:r>
                    </a:p>
                  </a:txBody>
                  <a:tcPr>
                    <a:solidFill>
                      <a:srgbClr val="F5F8FC"/>
                    </a:solidFill>
                  </a:tcPr>
                </a:tc>
                <a:tc>
                  <a:txBody>
                    <a:bodyPr/>
                    <a:lstStyle/>
                    <a:p>
                      <a:pPr algn="ctr">
                        <a:defRPr b="0" sz="1150">
                          <a:solidFill>
                            <a:srgbClr val="262626"/>
                          </a:solidFill>
                          <a:latin typeface="Calibri"/>
                        </a:defRPr>
                      </a:pPr>
                      <a:r>
                        <a:t>0.9504</a:t>
                      </a:r>
                    </a:p>
                  </a:txBody>
                  <a:tcPr>
                    <a:solidFill>
                      <a:srgbClr val="F5F8FC"/>
                    </a:solidFill>
                  </a:tcPr>
                </a:tc>
                <a:tc>
                  <a:txBody>
                    <a:bodyPr/>
                    <a:lstStyle/>
                    <a:p>
                      <a:pPr algn="ctr">
                        <a:defRPr b="0" sz="1150">
                          <a:solidFill>
                            <a:srgbClr val="262626"/>
                          </a:solidFill>
                          <a:latin typeface="Calibri"/>
                        </a:defRPr>
                      </a:pPr>
                      <a:r>
                        <a:t>0.8984</a:t>
                      </a:r>
                    </a:p>
                  </a:txBody>
                  <a:tcPr>
                    <a:solidFill>
                      <a:srgbClr val="F5F8FC"/>
                    </a:solidFill>
                  </a:tcPr>
                </a:tc>
                <a:tc>
                  <a:txBody>
                    <a:bodyPr/>
                    <a:lstStyle/>
                    <a:p>
                      <a:pPr algn="ctr">
                        <a:defRPr b="0" sz="1150">
                          <a:solidFill>
                            <a:srgbClr val="262626"/>
                          </a:solidFill>
                          <a:latin typeface="Calibri"/>
                        </a:defRPr>
                      </a:pPr>
                      <a:r>
                        <a:t>0.9237</a:t>
                      </a:r>
                    </a:p>
                  </a:txBody>
                  <a:tcPr>
                    <a:solidFill>
                      <a:srgbClr val="F5F8FC"/>
                    </a:solidFill>
                  </a:tcPr>
                </a:tc>
              </a:tr>
              <a:tr h="786384">
                <a:tc>
                  <a:txBody>
                    <a:bodyPr/>
                    <a:lstStyle/>
                    <a:p>
                      <a:pPr algn="l">
                        <a:defRPr b="1" sz="1150">
                          <a:solidFill>
                            <a:srgbClr val="0F4C81"/>
                          </a:solidFill>
                          <a:latin typeface="Calibri"/>
                        </a:defRPr>
                      </a:pPr>
                      <a:r>
                        <a:t>Random Forest (Best)</a:t>
                      </a:r>
                    </a:p>
                  </a:txBody>
                  <a:tcPr>
                    <a:solidFill>
                      <a:srgbClr val="E6F5FF"/>
                    </a:solidFill>
                  </a:tcPr>
                </a:tc>
                <a:tc>
                  <a:txBody>
                    <a:bodyPr/>
                    <a:lstStyle/>
                    <a:p>
                      <a:pPr algn="ctr">
                        <a:defRPr b="1" sz="1150">
                          <a:solidFill>
                            <a:srgbClr val="0F4C81"/>
                          </a:solidFill>
                          <a:latin typeface="Calibri"/>
                        </a:defRPr>
                      </a:pPr>
                      <a:r>
                        <a:t>93.0%</a:t>
                      </a:r>
                    </a:p>
                  </a:txBody>
                  <a:tcPr>
                    <a:solidFill>
                      <a:srgbClr val="E6F5FF"/>
                    </a:solidFill>
                  </a:tcPr>
                </a:tc>
                <a:tc>
                  <a:txBody>
                    <a:bodyPr/>
                    <a:lstStyle/>
                    <a:p>
                      <a:pPr algn="ctr">
                        <a:defRPr b="1" sz="1150">
                          <a:solidFill>
                            <a:srgbClr val="0F4C81"/>
                          </a:solidFill>
                          <a:latin typeface="Calibri"/>
                        </a:defRPr>
                      </a:pPr>
                      <a:r>
                        <a:t>0.9672</a:t>
                      </a:r>
                    </a:p>
                  </a:txBody>
                  <a:tcPr>
                    <a:solidFill>
                      <a:srgbClr val="E6F5FF"/>
                    </a:solidFill>
                  </a:tcPr>
                </a:tc>
                <a:tc>
                  <a:txBody>
                    <a:bodyPr/>
                    <a:lstStyle/>
                    <a:p>
                      <a:pPr algn="ctr">
                        <a:defRPr b="1" sz="1150">
                          <a:solidFill>
                            <a:srgbClr val="0F4C81"/>
                          </a:solidFill>
                          <a:latin typeface="Calibri"/>
                        </a:defRPr>
                      </a:pPr>
                      <a:r>
                        <a:t>0.9219</a:t>
                      </a:r>
                    </a:p>
                  </a:txBody>
                  <a:tcPr>
                    <a:solidFill>
                      <a:srgbClr val="E6F5FF"/>
                    </a:solidFill>
                  </a:tcPr>
                </a:tc>
                <a:tc>
                  <a:txBody>
                    <a:bodyPr/>
                    <a:lstStyle/>
                    <a:p>
                      <a:pPr algn="ctr">
                        <a:defRPr b="1" sz="1150">
                          <a:solidFill>
                            <a:srgbClr val="0F4C81"/>
                          </a:solidFill>
                          <a:latin typeface="Calibri"/>
                        </a:defRPr>
                      </a:pPr>
                      <a:r>
                        <a:t>0.9440</a:t>
                      </a:r>
                    </a:p>
                  </a:txBody>
                  <a:tcPr>
                    <a:solidFill>
                      <a:srgbClr val="E6F5FF"/>
                    </a:solidFill>
                  </a:tcPr>
                </a:tc>
              </a:tr>
              <a:tr h="786384">
                <a:tc>
                  <a:txBody>
                    <a:bodyPr/>
                    <a:lstStyle/>
                    <a:p>
                      <a:pPr algn="l">
                        <a:defRPr b="0" sz="1150">
                          <a:solidFill>
                            <a:srgbClr val="262626"/>
                          </a:solidFill>
                          <a:latin typeface="Calibri"/>
                        </a:defRPr>
                      </a:pPr>
                      <a:r>
                        <a:t>Naïve Bayes</a:t>
                      </a:r>
                    </a:p>
                  </a:txBody>
                  <a:tcPr>
                    <a:solidFill>
                      <a:srgbClr val="F5F8FC"/>
                    </a:solidFill>
                  </a:tcPr>
                </a:tc>
                <a:tc>
                  <a:txBody>
                    <a:bodyPr/>
                    <a:lstStyle/>
                    <a:p>
                      <a:pPr algn="ctr">
                        <a:defRPr b="0" sz="1150">
                          <a:solidFill>
                            <a:srgbClr val="262626"/>
                          </a:solidFill>
                          <a:latin typeface="Calibri"/>
                        </a:defRPr>
                      </a:pPr>
                      <a:r>
                        <a:t>84.0%</a:t>
                      </a:r>
                    </a:p>
                  </a:txBody>
                  <a:tcPr>
                    <a:solidFill>
                      <a:srgbClr val="F5F8FC"/>
                    </a:solidFill>
                  </a:tcPr>
                </a:tc>
                <a:tc>
                  <a:txBody>
                    <a:bodyPr/>
                    <a:lstStyle/>
                    <a:p>
                      <a:pPr algn="ctr">
                        <a:defRPr b="0" sz="1150">
                          <a:solidFill>
                            <a:srgbClr val="262626"/>
                          </a:solidFill>
                          <a:latin typeface="Calibri"/>
                        </a:defRPr>
                      </a:pPr>
                      <a:r>
                        <a:t>0.8810</a:t>
                      </a:r>
                    </a:p>
                  </a:txBody>
                  <a:tcPr>
                    <a:solidFill>
                      <a:srgbClr val="F5F8FC"/>
                    </a:solidFill>
                  </a:tcPr>
                </a:tc>
                <a:tc>
                  <a:txBody>
                    <a:bodyPr/>
                    <a:lstStyle/>
                    <a:p>
                      <a:pPr algn="ctr">
                        <a:defRPr b="0" sz="1150">
                          <a:solidFill>
                            <a:srgbClr val="262626"/>
                          </a:solidFill>
                          <a:latin typeface="Calibri"/>
                        </a:defRPr>
                      </a:pPr>
                      <a:r>
                        <a:t>0.8672</a:t>
                      </a:r>
                    </a:p>
                  </a:txBody>
                  <a:tcPr>
                    <a:solidFill>
                      <a:srgbClr val="F5F8FC"/>
                    </a:solidFill>
                  </a:tcPr>
                </a:tc>
                <a:tc>
                  <a:txBody>
                    <a:bodyPr/>
                    <a:lstStyle/>
                    <a:p>
                      <a:pPr algn="ctr">
                        <a:defRPr b="0" sz="1150">
                          <a:solidFill>
                            <a:srgbClr val="262626"/>
                          </a:solidFill>
                          <a:latin typeface="Calibri"/>
                        </a:defRPr>
                      </a:pPr>
                      <a:r>
                        <a:t>0.8740</a:t>
                      </a:r>
                    </a:p>
                  </a:txBody>
                  <a:tcPr>
                    <a:solidFill>
                      <a:srgbClr val="F5F8FC"/>
                    </a:solidFill>
                  </a:tcPr>
                </a:tc>
              </a:tr>
            </a:tbl>
          </a:graphicData>
        </a:graphic>
      </p:graphicFrame>
      <p:pic>
        <p:nvPicPr>
          <p:cNvPr id="6" name="Picture 5" descr="random_forest_feature_importance.png"/>
          <p:cNvPicPr>
            <a:picLocks noChangeAspect="1"/>
          </p:cNvPicPr>
          <p:nvPr/>
        </p:nvPicPr>
        <p:blipFill>
          <a:blip r:embed="rId4"/>
          <a:stretch>
            <a:fillRect/>
          </a:stretch>
        </p:blipFill>
        <p:spPr>
          <a:xfrm>
            <a:off x="6492240" y="2423160"/>
            <a:ext cx="5303520" cy="3977639"/>
          </a:xfrm>
          <a:prstGeom prst="rect">
            <a:avLst/>
          </a:prstGeom>
        </p:spPr>
      </p:pic>
    </p:spTree>
    <p:extLst>
      <p:ext uri="{BB962C8B-B14F-4D97-AF65-F5344CB8AC3E}">
        <p14:creationId xmlns:p14="http://schemas.microsoft.com/office/powerpoint/2010/main" val="36547160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62D26C-08B1-DDCC-AC69-3AACEF9800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5D90B4-4498-0444-8B83-4246EC4E8F10}"/>
              </a:ext>
            </a:extLst>
          </p:cNvPr>
          <p:cNvSpPr>
            <a:spLocks noGrp="1"/>
          </p:cNvSpPr>
          <p:nvPr>
            <p:ph type="title"/>
          </p:nvPr>
        </p:nvSpPr>
        <p:spPr>
          <a:xfrm>
            <a:off x="346587" y="178313"/>
            <a:ext cx="10515600" cy="903236"/>
          </a:xfrm>
        </p:spPr>
        <p:txBody>
          <a:bodyPr>
            <a:normAutofit/>
          </a:bodyPr>
          <a:lstStyle/>
          <a:p>
            <a:pPr>
              <a:defRPr sz="3600" b="1">
                <a:solidFill>
                  <a:srgbClr val="00B0F0"/>
                </a:solidFill>
                <a:latin typeface="Cambria"/>
              </a:defRPr>
            </a:pPr>
            <a:r>
              <a:t>References</a:t>
            </a:r>
          </a:p>
        </p:txBody>
      </p:sp>
      <p:sp>
        <p:nvSpPr>
          <p:cNvPr id="4" name="Content Placeholder 2"/>
          <p:cNvSpPr>
            <a:spLocks noGrp="1"/>
          </p:cNvSpPr>
          <p:nvPr>
            <p:ph idx="1"/>
          </p:nvPr>
        </p:nvSpPr>
        <p:spPr>
          <a:xfrm>
            <a:off x="346587" y="1200000"/>
            <a:ext cx="11471787" cy="5100000"/>
          </a:xfrm>
        </p:spPr>
        <p:txBody>
          <a:bodyPr>
            <a:normAutofit/>
          </a:bodyPr>
          <a:lstStyle/>
          <a:p>
            <a:pPr>
              <a:spcAft>
                <a:spcPts val="800"/>
              </a:spcAft>
            </a:pPr>
            <a:r>
              <a:rPr b="1" sz="1250">
                <a:solidFill>
                  <a:srgbClr val="262626"/>
                </a:solidFill>
                <a:latin typeface="Calibri"/>
              </a:rPr>
              <a:t>Pedregosa, F., et al. (2011). </a:t>
            </a:r>
            <a:r>
              <a:rPr b="0" sz="1200">
                <a:solidFill>
                  <a:srgbClr val="262626"/>
                </a:solidFill>
                <a:latin typeface="Calibri"/>
              </a:rPr>
              <a:t>Scikit-learn: Machine Learning in Python. Journal of Machine Learning Research, 12, 2825-2830.</a:t>
            </a:r>
          </a:p>
          <a:p>
            <a:pPr>
              <a:spcAft>
                <a:spcPts val="800"/>
              </a:spcAft>
            </a:pPr>
            <a:r>
              <a:rPr b="1" sz="1250">
                <a:solidFill>
                  <a:srgbClr val="262626"/>
                </a:solidFill>
                <a:latin typeface="Calibri"/>
              </a:rPr>
              <a:t>Breiman, L. (2001). </a:t>
            </a:r>
            <a:r>
              <a:rPr b="0" sz="1200">
                <a:solidFill>
                  <a:srgbClr val="262626"/>
                </a:solidFill>
                <a:latin typeface="Calibri"/>
              </a:rPr>
              <a:t>Random Forests. Machine Learning, 45(1), 5-32.</a:t>
            </a:r>
          </a:p>
          <a:p>
            <a:pPr>
              <a:spcAft>
                <a:spcPts val="800"/>
              </a:spcAft>
            </a:pPr>
            <a:r>
              <a:rPr b="1" sz="1250">
                <a:solidFill>
                  <a:srgbClr val="262626"/>
                </a:solidFill>
                <a:latin typeface="Calibri"/>
              </a:rPr>
              <a:t>Quinlan, J. R. (1986). </a:t>
            </a:r>
            <a:r>
              <a:rPr b="0" sz="1200">
                <a:solidFill>
                  <a:srgbClr val="262626"/>
                </a:solidFill>
                <a:latin typeface="Calibri"/>
              </a:rPr>
              <a:t>Induction of Decision Trees. Machine Learning, 1(1), 81-106.</a:t>
            </a:r>
          </a:p>
          <a:p>
            <a:pPr>
              <a:spcAft>
                <a:spcPts val="800"/>
              </a:spcAft>
            </a:pPr>
            <a:r>
              <a:rPr b="1" sz="1250">
                <a:solidFill>
                  <a:srgbClr val="262626"/>
                </a:solidFill>
                <a:latin typeface="Calibri"/>
              </a:rPr>
              <a:t>McKinney, W. (2010). </a:t>
            </a:r>
            <a:r>
              <a:rPr b="0" sz="1200">
                <a:solidFill>
                  <a:srgbClr val="262626"/>
                </a:solidFill>
                <a:latin typeface="Calibri"/>
              </a:rPr>
              <a:t>Data Structures for Statistical Computing in Python (pandas). Proceedings of the 9th Python in Science Conference.</a:t>
            </a:r>
          </a:p>
          <a:p>
            <a:pPr>
              <a:spcAft>
                <a:spcPts val="800"/>
              </a:spcAft>
            </a:pPr>
            <a:r>
              <a:rPr b="1" sz="1250">
                <a:solidFill>
                  <a:srgbClr val="262626"/>
                </a:solidFill>
                <a:latin typeface="Calibri"/>
              </a:rPr>
              <a:t>Government of Tamil Nadu: </a:t>
            </a:r>
            <a:r>
              <a:rPr b="0" sz="1200">
                <a:solidFill>
                  <a:srgbClr val="262626"/>
                </a:solidFill>
                <a:latin typeface="Calibri"/>
              </a:rPr>
              <a:t>Post-Matric Scholarship Scheme Guidelines (Adi Dravidar &amp; Tribal Welfare / Backward Classes Welfare Department) – Used as conceptual reference context for eligibility criteria.</a:t>
            </a:r>
          </a:p>
          <a:p>
            <a:pPr>
              <a:spcAft>
                <a:spcPts val="800"/>
              </a:spcAft>
            </a:pPr>
            <a:r>
              <a:rPr b="1" sz="1250">
                <a:solidFill>
                  <a:srgbClr val="262626"/>
                </a:solidFill>
                <a:latin typeface="Calibri"/>
              </a:rPr>
              <a:t>Ministry of Education, Government of India: </a:t>
            </a:r>
            <a:r>
              <a:rPr b="0" sz="1200">
                <a:solidFill>
                  <a:srgbClr val="262626"/>
                </a:solidFill>
                <a:latin typeface="Calibri"/>
              </a:rPr>
              <a:t>All India Survey on Higher Education (AISHE) Reports – Used as reference context for higher education enrolment demographics.</a:t>
            </a:r>
          </a:p>
          <a:p>
            <a:pPr>
              <a:spcBef>
                <a:spcPts val="800"/>
              </a:spcBef>
            </a:pPr>
            <a:r>
              <a:rPr i="1" sz="1100">
                <a:solidFill>
                  <a:srgbClr val="646464"/>
                </a:solidFill>
                <a:latin typeface="Calibri"/>
              </a:rPr>
              <a:t>Note: References provide algorithmic background and conceptual domain context; the project dataset is a synthetic reference dataset generated for academic machine-learning experimentation.</a:t>
            </a:r>
          </a:p>
        </p:txBody>
      </p:sp>
    </p:spTree>
    <p:extLst>
      <p:ext uri="{BB962C8B-B14F-4D97-AF65-F5344CB8AC3E}">
        <p14:creationId xmlns:p14="http://schemas.microsoft.com/office/powerpoint/2010/main" val="22021390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6F5BFE-A197-8561-F3D1-AC6782F24B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A6B956-F31A-B84C-394E-FECA6187A7F0}"/>
              </a:ext>
            </a:extLst>
          </p:cNvPr>
          <p:cNvSpPr>
            <a:spLocks noGrp="1"/>
          </p:cNvSpPr>
          <p:nvPr>
            <p:ph type="title"/>
          </p:nvPr>
        </p:nvSpPr>
        <p:spPr>
          <a:xfrm>
            <a:off x="838200" y="2191697"/>
            <a:ext cx="10515600" cy="2474605"/>
          </a:xfrm>
        </p:spPr>
        <p:txBody>
          <a:bodyPr>
            <a:normAutofit/>
          </a:bodyPr>
          <a:lstStyle/>
          <a:p>
            <a:pPr algn="ctr">
              <a:defRPr sz="5600" b="1">
                <a:solidFill>
                  <a:srgbClr val="00B0F0"/>
                </a:solidFill>
                <a:latin typeface="Cambria"/>
              </a:defRPr>
            </a:pPr>
            <a:r>
              <a:t>Thank You!</a:t>
            </a:r>
          </a:p>
        </p:txBody>
      </p:sp>
      <p:sp>
        <p:nvSpPr>
          <p:cNvPr id="3" name="TextBox 2"/>
          <p:cNvSpPr txBox="1"/>
          <p:nvPr/>
        </p:nvSpPr>
        <p:spPr>
          <a:xfrm>
            <a:off x="1828800" y="3931920"/>
            <a:ext cx="8503920" cy="1645920"/>
          </a:xfrm>
          <a:prstGeom prst="rect">
            <a:avLst/>
          </a:prstGeom>
          <a:noFill/>
        </p:spPr>
        <p:txBody>
          <a:bodyPr wrap="none">
            <a:spAutoFit/>
          </a:bodyPr>
          <a:lstStyle/>
          <a:p>
            <a:pPr algn="ctr">
              <a:spcAft>
                <a:spcPts val="600"/>
              </a:spcAft>
              <a:defRPr b="1" sz="2200">
                <a:solidFill>
                  <a:srgbClr val="262626"/>
                </a:solidFill>
                <a:latin typeface="Calibri"/>
              </a:defRPr>
            </a:pPr>
            <a:r>
              <a:t>Academic Machine Learning Classification Demonstration</a:t>
            </a:r>
          </a:p>
          <a:p>
            <a:pPr algn="ctr">
              <a:defRPr sz="1600">
                <a:solidFill>
                  <a:srgbClr val="646464"/>
                </a:solidFill>
                <a:latin typeface="Calibri"/>
              </a:defRPr>
            </a:pPr>
            <a:r>
              <a:t>Course: AD4V71 – Data Science</a:t>
            </a:r>
            <a:br/>
            <a:r>
              <a:t>Team: Kirutick Siddhesh V (210425243120) &amp; Krishna H (210425243124)</a:t>
            </a:r>
          </a:p>
        </p:txBody>
      </p:sp>
    </p:spTree>
    <p:extLst>
      <p:ext uri="{BB962C8B-B14F-4D97-AF65-F5344CB8AC3E}">
        <p14:creationId xmlns:p14="http://schemas.microsoft.com/office/powerpoint/2010/main" val="18580045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990</TotalTime>
  <Words>613</Words>
  <Application>Microsoft Office PowerPoint</Application>
  <PresentationFormat>Widescreen</PresentationFormat>
  <Paragraphs>104</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Aptos</vt:lpstr>
      <vt:lpstr>Aptos Display</vt:lpstr>
      <vt:lpstr>Arial</vt:lpstr>
      <vt:lpstr>Cambria</vt:lpstr>
      <vt:lpstr>Times New Roman</vt:lpstr>
      <vt:lpstr>Office Theme</vt:lpstr>
      <vt:lpstr>PowerPoint Presentation</vt:lpstr>
      <vt:lpstr>Problem Identification and Title Justification</vt:lpstr>
      <vt:lpstr>Problem Identification and Title Justification</vt:lpstr>
      <vt:lpstr>Literature Survey</vt:lpstr>
      <vt:lpstr>Objectives of the Project</vt:lpstr>
      <vt:lpstr>Project Planning and Time Schedule</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Chandra Sekhar Perike</dc:creator>
  <cp:lastModifiedBy>Velan Mayaperumal</cp:lastModifiedBy>
  <cp:revision>300</cp:revision>
  <dcterms:created xsi:type="dcterms:W3CDTF">2026-06-12T06:07:18Z</dcterms:created>
  <dcterms:modified xsi:type="dcterms:W3CDTF">2026-06-23T05:33:45Z</dcterms:modified>
</cp:coreProperties>
</file>